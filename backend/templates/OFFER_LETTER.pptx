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Lst>
  <p:sldSz cx="7556500" cy="10693400"/>
  <p:notesSz cx="6858000" cy="9144000"/>
  <p:embeddedFontLst>
    <p:embeddedFont>
      <p:font typeface="Poppins" panose="00000500000000000000" pitchFamily="2" charset="0"/>
      <p:regular r:id="rId4"/>
    </p:embeddedFont>
    <p:embeddedFont>
      <p:font typeface="Poppins Bold" panose="00000800000000000000" charset="0"/>
      <p:regular r:id="rId5"/>
    </p:embeddedFont>
    <p:embeddedFont>
      <p:font typeface="Poppins Medium Bold" panose="020B0604020202020204" charset="0"/>
      <p:regular r:id="rId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0" d="100"/>
          <a:sy n="50" d="100"/>
        </p:scale>
        <p:origin x="2635" y="48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5" Type="http://schemas.openxmlformats.org/officeDocument/2006/relationships/font" Target="fonts/font2.fntdata"/><Relationship Id="rId10" Type="http://schemas.openxmlformats.org/officeDocument/2006/relationships/tableStyles" Target="tableStyles.xml"/><Relationship Id="rId4" Type="http://schemas.openxmlformats.org/officeDocument/2006/relationships/font" Target="fonts/font1.fntdata"/><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www.linkedin.com/company/concept-simplified/" TargetMode="External"/><Relationship Id="rId3" Type="http://schemas.openxmlformats.org/officeDocument/2006/relationships/image" Target="../media/image2.svg"/><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youtube.com/@CONCEPTSIMPLIFIED" TargetMode="External"/><Relationship Id="rId5" Type="http://schemas.openxmlformats.org/officeDocument/2006/relationships/image" Target="../media/image3.jpeg"/><Relationship Id="rId10" Type="http://schemas.openxmlformats.org/officeDocument/2006/relationships/hyperlink" Target="https://www.collegesimplified.in" TargetMode="External"/><Relationship Id="rId4" Type="http://schemas.openxmlformats.org/officeDocument/2006/relationships/hyperlink" Target="https://www.instagram.com/college_simplified/" TargetMode="External"/><Relationship Id="rId9"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hyperlink" Target="https://www.linkedin.com/company/concept-simplified/" TargetMode="External"/><Relationship Id="rId3" Type="http://schemas.openxmlformats.org/officeDocument/2006/relationships/image" Target="../media/image2.svg"/><Relationship Id="rId7" Type="http://schemas.openxmlformats.org/officeDocument/2006/relationships/image" Target="../media/image4.png"/><Relationship Id="rId12"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youtube.com/@CONCEPTSIMPLIFIED" TargetMode="External"/><Relationship Id="rId11" Type="http://schemas.openxmlformats.org/officeDocument/2006/relationships/image" Target="../media/image6.jpeg"/><Relationship Id="rId5" Type="http://schemas.openxmlformats.org/officeDocument/2006/relationships/image" Target="../media/image3.jpeg"/><Relationship Id="rId10" Type="http://schemas.openxmlformats.org/officeDocument/2006/relationships/hyperlink" Target="https://www.collegesimplified.in" TargetMode="External"/><Relationship Id="rId4" Type="http://schemas.openxmlformats.org/officeDocument/2006/relationships/hyperlink" Target="https://www.instagram.com/college_simplified/" TargetMode="External"/><Relationship Id="rId9"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5996723" y="-1521403"/>
            <a:ext cx="2482687" cy="2172352"/>
            <a:chOff x="0" y="0"/>
            <a:chExt cx="812800" cy="711200"/>
          </a:xfrm>
        </p:grpSpPr>
        <p:sp>
          <p:nvSpPr>
            <p:cNvPr id="3" name="Freeform 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F0000"/>
            </a:solidFill>
          </p:spPr>
        </p:sp>
        <p:sp>
          <p:nvSpPr>
            <p:cNvPr id="4" name="TextBox 4"/>
            <p:cNvSpPr txBox="1"/>
            <p:nvPr/>
          </p:nvSpPr>
          <p:spPr>
            <a:xfrm>
              <a:off x="127000" y="301625"/>
              <a:ext cx="558800" cy="358775"/>
            </a:xfrm>
            <a:prstGeom prst="rect">
              <a:avLst/>
            </a:prstGeom>
          </p:spPr>
          <p:txBody>
            <a:bodyPr lIns="50800" tIns="50800" rIns="50800" bIns="50800" rtlCol="0" anchor="ctr"/>
            <a:lstStyle/>
            <a:p>
              <a:pPr algn="ctr">
                <a:lnSpc>
                  <a:spcPts val="1960"/>
                </a:lnSpc>
                <a:spcBef>
                  <a:spcPct val="0"/>
                </a:spcBef>
              </a:pPr>
              <a:endParaRPr/>
            </a:p>
          </p:txBody>
        </p:sp>
      </p:grpSp>
      <p:grpSp>
        <p:nvGrpSpPr>
          <p:cNvPr id="5" name="Group 5"/>
          <p:cNvGrpSpPr/>
          <p:nvPr/>
        </p:nvGrpSpPr>
        <p:grpSpPr>
          <a:xfrm>
            <a:off x="-873698" y="9973006"/>
            <a:ext cx="2476910" cy="2167296"/>
            <a:chOff x="0" y="0"/>
            <a:chExt cx="812800" cy="711200"/>
          </a:xfrm>
        </p:grpSpPr>
        <p:sp>
          <p:nvSpPr>
            <p:cNvPr id="6" name="Freeform 6"/>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F0000"/>
            </a:solidFill>
          </p:spPr>
        </p:sp>
        <p:sp>
          <p:nvSpPr>
            <p:cNvPr id="7" name="TextBox 7"/>
            <p:cNvSpPr txBox="1"/>
            <p:nvPr/>
          </p:nvSpPr>
          <p:spPr>
            <a:xfrm>
              <a:off x="127000" y="301625"/>
              <a:ext cx="558800" cy="358775"/>
            </a:xfrm>
            <a:prstGeom prst="rect">
              <a:avLst/>
            </a:prstGeom>
          </p:spPr>
          <p:txBody>
            <a:bodyPr lIns="50800" tIns="50800" rIns="50800" bIns="50800" rtlCol="0" anchor="ctr"/>
            <a:lstStyle/>
            <a:p>
              <a:pPr algn="ctr">
                <a:lnSpc>
                  <a:spcPts val="1960"/>
                </a:lnSpc>
                <a:spcBef>
                  <a:spcPct val="0"/>
                </a:spcBef>
              </a:pPr>
              <a:endParaRPr/>
            </a:p>
          </p:txBody>
        </p:sp>
      </p:grpSp>
      <p:grpSp>
        <p:nvGrpSpPr>
          <p:cNvPr id="8" name="Group 8"/>
          <p:cNvGrpSpPr/>
          <p:nvPr/>
        </p:nvGrpSpPr>
        <p:grpSpPr>
          <a:xfrm>
            <a:off x="7138540" y="-1661152"/>
            <a:ext cx="2427920" cy="2124430"/>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BC1823"/>
            </a:solidFill>
          </p:spPr>
        </p:sp>
        <p:sp>
          <p:nvSpPr>
            <p:cNvPr id="10" name="TextBox 10"/>
            <p:cNvSpPr txBox="1"/>
            <p:nvPr/>
          </p:nvSpPr>
          <p:spPr>
            <a:xfrm>
              <a:off x="127000" y="301625"/>
              <a:ext cx="558800" cy="358775"/>
            </a:xfrm>
            <a:prstGeom prst="rect">
              <a:avLst/>
            </a:prstGeom>
          </p:spPr>
          <p:txBody>
            <a:bodyPr lIns="50800" tIns="50800" rIns="50800" bIns="50800" rtlCol="0" anchor="ctr"/>
            <a:lstStyle/>
            <a:p>
              <a:pPr algn="ctr">
                <a:lnSpc>
                  <a:spcPts val="1960"/>
                </a:lnSpc>
                <a:spcBef>
                  <a:spcPct val="0"/>
                </a:spcBef>
              </a:pPr>
              <a:endParaRPr/>
            </a:p>
          </p:txBody>
        </p:sp>
      </p:grpSp>
      <p:grpSp>
        <p:nvGrpSpPr>
          <p:cNvPr id="11" name="Group 11"/>
          <p:cNvGrpSpPr/>
          <p:nvPr/>
        </p:nvGrpSpPr>
        <p:grpSpPr>
          <a:xfrm rot="-10800000">
            <a:off x="-2112153" y="9973006"/>
            <a:ext cx="2476910" cy="2167296"/>
            <a:chOff x="0" y="0"/>
            <a:chExt cx="812800" cy="711200"/>
          </a:xfrm>
        </p:grpSpPr>
        <p:sp>
          <p:nvSpPr>
            <p:cNvPr id="12" name="Freeform 12"/>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BC1823"/>
            </a:solidFill>
          </p:spPr>
        </p:sp>
        <p:sp>
          <p:nvSpPr>
            <p:cNvPr id="13" name="TextBox 13"/>
            <p:cNvSpPr txBox="1"/>
            <p:nvPr/>
          </p:nvSpPr>
          <p:spPr>
            <a:xfrm>
              <a:off x="127000" y="301625"/>
              <a:ext cx="558800" cy="358775"/>
            </a:xfrm>
            <a:prstGeom prst="rect">
              <a:avLst/>
            </a:prstGeom>
          </p:spPr>
          <p:txBody>
            <a:bodyPr lIns="50800" tIns="50800" rIns="50800" bIns="50800" rtlCol="0" anchor="ctr"/>
            <a:lstStyle/>
            <a:p>
              <a:pPr algn="ctr">
                <a:lnSpc>
                  <a:spcPts val="1960"/>
                </a:lnSpc>
                <a:spcBef>
                  <a:spcPct val="0"/>
                </a:spcBef>
              </a:pPr>
              <a:endParaRPr/>
            </a:p>
          </p:txBody>
        </p:sp>
      </p:grpSp>
      <p:grpSp>
        <p:nvGrpSpPr>
          <p:cNvPr id="14" name="Group 14"/>
          <p:cNvGrpSpPr/>
          <p:nvPr/>
        </p:nvGrpSpPr>
        <p:grpSpPr>
          <a:xfrm rot="-10800000">
            <a:off x="7097260" y="416101"/>
            <a:ext cx="2376175" cy="2171374"/>
            <a:chOff x="0" y="0"/>
            <a:chExt cx="812800" cy="742745"/>
          </a:xfrm>
        </p:grpSpPr>
        <p:sp>
          <p:nvSpPr>
            <p:cNvPr id="15" name="Freeform 15"/>
            <p:cNvSpPr/>
            <p:nvPr/>
          </p:nvSpPr>
          <p:spPr>
            <a:xfrm>
              <a:off x="0" y="0"/>
              <a:ext cx="812800" cy="742745"/>
            </a:xfrm>
            <a:custGeom>
              <a:avLst/>
              <a:gdLst/>
              <a:ahLst/>
              <a:cxnLst/>
              <a:rect l="l" t="t" r="r" b="b"/>
              <a:pathLst>
                <a:path w="812800" h="742745">
                  <a:moveTo>
                    <a:pt x="406400" y="0"/>
                  </a:moveTo>
                  <a:lnTo>
                    <a:pt x="812800" y="742745"/>
                  </a:lnTo>
                  <a:lnTo>
                    <a:pt x="0" y="742745"/>
                  </a:lnTo>
                  <a:lnTo>
                    <a:pt x="406400" y="0"/>
                  </a:lnTo>
                  <a:close/>
                </a:path>
              </a:pathLst>
            </a:custGeom>
            <a:solidFill>
              <a:srgbClr val="EF3A5D"/>
            </a:solidFill>
          </p:spPr>
        </p:sp>
        <p:sp>
          <p:nvSpPr>
            <p:cNvPr id="16" name="TextBox 16"/>
            <p:cNvSpPr txBox="1"/>
            <p:nvPr/>
          </p:nvSpPr>
          <p:spPr>
            <a:xfrm>
              <a:off x="127000" y="316271"/>
              <a:ext cx="558800" cy="373421"/>
            </a:xfrm>
            <a:prstGeom prst="rect">
              <a:avLst/>
            </a:prstGeom>
          </p:spPr>
          <p:txBody>
            <a:bodyPr lIns="50800" tIns="50800" rIns="50800" bIns="50800" rtlCol="0" anchor="ctr"/>
            <a:lstStyle/>
            <a:p>
              <a:pPr algn="ctr">
                <a:lnSpc>
                  <a:spcPts val="1960"/>
                </a:lnSpc>
                <a:spcBef>
                  <a:spcPct val="0"/>
                </a:spcBef>
              </a:pPr>
              <a:endParaRPr/>
            </a:p>
          </p:txBody>
        </p:sp>
      </p:grpSp>
      <p:grpSp>
        <p:nvGrpSpPr>
          <p:cNvPr id="17" name="Group 17"/>
          <p:cNvGrpSpPr/>
          <p:nvPr/>
        </p:nvGrpSpPr>
        <p:grpSpPr>
          <a:xfrm>
            <a:off x="-1831875" y="8073068"/>
            <a:ext cx="2229106" cy="1950467"/>
            <a:chOff x="0" y="0"/>
            <a:chExt cx="812800" cy="711200"/>
          </a:xfrm>
        </p:grpSpPr>
        <p:sp>
          <p:nvSpPr>
            <p:cNvPr id="18" name="Freeform 18"/>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EF3A5D"/>
            </a:solidFill>
          </p:spPr>
        </p:sp>
        <p:sp>
          <p:nvSpPr>
            <p:cNvPr id="19" name="TextBox 19"/>
            <p:cNvSpPr txBox="1"/>
            <p:nvPr/>
          </p:nvSpPr>
          <p:spPr>
            <a:xfrm>
              <a:off x="127000" y="301625"/>
              <a:ext cx="558800" cy="358775"/>
            </a:xfrm>
            <a:prstGeom prst="rect">
              <a:avLst/>
            </a:prstGeom>
          </p:spPr>
          <p:txBody>
            <a:bodyPr lIns="50800" tIns="50800" rIns="50800" bIns="50800" rtlCol="0" anchor="ctr"/>
            <a:lstStyle/>
            <a:p>
              <a:pPr algn="ctr">
                <a:lnSpc>
                  <a:spcPts val="1960"/>
                </a:lnSpc>
                <a:spcBef>
                  <a:spcPct val="0"/>
                </a:spcBef>
              </a:pPr>
              <a:endParaRPr/>
            </a:p>
          </p:txBody>
        </p:sp>
      </p:grpSp>
      <p:sp>
        <p:nvSpPr>
          <p:cNvPr id="20" name="Freeform 20"/>
          <p:cNvSpPr/>
          <p:nvPr/>
        </p:nvSpPr>
        <p:spPr>
          <a:xfrm>
            <a:off x="756000" y="409472"/>
            <a:ext cx="1174660" cy="1171941"/>
          </a:xfrm>
          <a:custGeom>
            <a:avLst/>
            <a:gdLst/>
            <a:ahLst/>
            <a:cxnLst/>
            <a:rect l="l" t="t" r="r" b="b"/>
            <a:pathLst>
              <a:path w="1174660" h="1171941">
                <a:moveTo>
                  <a:pt x="0" y="0"/>
                </a:moveTo>
                <a:lnTo>
                  <a:pt x="1174660" y="0"/>
                </a:lnTo>
                <a:lnTo>
                  <a:pt x="1174660" y="1171941"/>
                </a:lnTo>
                <a:lnTo>
                  <a:pt x="0" y="1171941"/>
                </a:lnTo>
                <a:lnTo>
                  <a:pt x="0" y="0"/>
                </a:lnTo>
                <a:close/>
              </a:path>
            </a:pathLst>
          </a:custGeom>
          <a:blipFill>
            <a:blip r:embed="rId2"/>
            <a:stretch>
              <a:fillRect t="-116" b="-116"/>
            </a:stretch>
          </a:blipFill>
        </p:spPr>
      </p:sp>
      <p:sp>
        <p:nvSpPr>
          <p:cNvPr id="21" name="TextBox 21"/>
          <p:cNvSpPr txBox="1"/>
          <p:nvPr/>
        </p:nvSpPr>
        <p:spPr>
          <a:xfrm>
            <a:off x="1439376" y="414797"/>
            <a:ext cx="5076651" cy="1166616"/>
          </a:xfrm>
          <a:prstGeom prst="rect">
            <a:avLst/>
          </a:prstGeom>
        </p:spPr>
        <p:txBody>
          <a:bodyPr lIns="0" tIns="0" rIns="0" bIns="0" rtlCol="0" anchor="t">
            <a:spAutoFit/>
          </a:bodyPr>
          <a:lstStyle/>
          <a:p>
            <a:pPr algn="ctr">
              <a:lnSpc>
                <a:spcPts val="4370"/>
              </a:lnSpc>
            </a:pPr>
            <a:r>
              <a:rPr lang="en-US" sz="4505" b="1" spc="225">
                <a:solidFill>
                  <a:srgbClr val="000000"/>
                </a:solidFill>
                <a:latin typeface="Poppins Bold"/>
                <a:ea typeface="Poppins Bold"/>
                <a:cs typeface="Poppins Bold"/>
                <a:sym typeface="Poppins Bold"/>
              </a:rPr>
              <a:t>CONCEPT </a:t>
            </a:r>
          </a:p>
          <a:p>
            <a:pPr marL="0" lvl="0" indent="0" algn="ctr">
              <a:lnSpc>
                <a:spcPts val="4370"/>
              </a:lnSpc>
            </a:pPr>
            <a:r>
              <a:rPr lang="en-US" sz="4505" b="1" spc="225">
                <a:solidFill>
                  <a:srgbClr val="000000"/>
                </a:solidFill>
                <a:latin typeface="Poppins Bold"/>
                <a:ea typeface="Poppins Bold"/>
                <a:cs typeface="Poppins Bold"/>
                <a:sym typeface="Poppins Bold"/>
              </a:rPr>
              <a:t>SIMPLIFIED</a:t>
            </a:r>
          </a:p>
        </p:txBody>
      </p:sp>
      <p:sp>
        <p:nvSpPr>
          <p:cNvPr id="22" name="Freeform 22"/>
          <p:cNvSpPr/>
          <p:nvPr/>
        </p:nvSpPr>
        <p:spPr>
          <a:xfrm>
            <a:off x="1526207" y="10255846"/>
            <a:ext cx="233824" cy="233824"/>
          </a:xfrm>
          <a:custGeom>
            <a:avLst/>
            <a:gdLst/>
            <a:ahLst/>
            <a:cxnLst/>
            <a:rect l="l" t="t" r="r" b="b"/>
            <a:pathLst>
              <a:path w="233824" h="233824">
                <a:moveTo>
                  <a:pt x="0" y="0"/>
                </a:moveTo>
                <a:lnTo>
                  <a:pt x="233824" y="0"/>
                </a:lnTo>
                <a:lnTo>
                  <a:pt x="233824" y="233824"/>
                </a:lnTo>
                <a:lnTo>
                  <a:pt x="0" y="23382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23" name="Freeform 23">
            <a:hlinkClick r:id="rId4" tooltip="https://www.instagram.com/college_simplified/"/>
          </p:cNvPr>
          <p:cNvSpPr/>
          <p:nvPr/>
        </p:nvSpPr>
        <p:spPr>
          <a:xfrm>
            <a:off x="5854790" y="10236127"/>
            <a:ext cx="283867" cy="285821"/>
          </a:xfrm>
          <a:custGeom>
            <a:avLst/>
            <a:gdLst/>
            <a:ahLst/>
            <a:cxnLst/>
            <a:rect l="l" t="t" r="r" b="b"/>
            <a:pathLst>
              <a:path w="283867" h="285821">
                <a:moveTo>
                  <a:pt x="0" y="0"/>
                </a:moveTo>
                <a:lnTo>
                  <a:pt x="283867" y="0"/>
                </a:lnTo>
                <a:lnTo>
                  <a:pt x="283867" y="285821"/>
                </a:lnTo>
                <a:lnTo>
                  <a:pt x="0" y="285821"/>
                </a:lnTo>
                <a:lnTo>
                  <a:pt x="0" y="0"/>
                </a:lnTo>
                <a:close/>
              </a:path>
            </a:pathLst>
          </a:custGeom>
          <a:blipFill>
            <a:blip r:embed="rId5"/>
            <a:stretch>
              <a:fillRect l="-31041" r="-30515"/>
            </a:stretch>
          </a:blipFill>
        </p:spPr>
      </p:sp>
      <p:sp>
        <p:nvSpPr>
          <p:cNvPr id="24" name="Freeform 24">
            <a:hlinkClick r:id="rId6" tooltip="https://youtube.com/@CONCEPTSIMPLIFIED"/>
          </p:cNvPr>
          <p:cNvSpPr/>
          <p:nvPr/>
        </p:nvSpPr>
        <p:spPr>
          <a:xfrm>
            <a:off x="6204168" y="10268404"/>
            <a:ext cx="351611" cy="221266"/>
          </a:xfrm>
          <a:custGeom>
            <a:avLst/>
            <a:gdLst/>
            <a:ahLst/>
            <a:cxnLst/>
            <a:rect l="l" t="t" r="r" b="b"/>
            <a:pathLst>
              <a:path w="351611" h="221266">
                <a:moveTo>
                  <a:pt x="0" y="0"/>
                </a:moveTo>
                <a:lnTo>
                  <a:pt x="351611" y="0"/>
                </a:lnTo>
                <a:lnTo>
                  <a:pt x="351611" y="221266"/>
                </a:lnTo>
                <a:lnTo>
                  <a:pt x="0" y="221266"/>
                </a:lnTo>
                <a:lnTo>
                  <a:pt x="0" y="0"/>
                </a:lnTo>
                <a:close/>
              </a:path>
            </a:pathLst>
          </a:custGeom>
          <a:blipFill>
            <a:blip r:embed="rId7"/>
            <a:stretch>
              <a:fillRect t="-5736" b="-5736"/>
            </a:stretch>
          </a:blipFill>
        </p:spPr>
      </p:sp>
      <p:sp>
        <p:nvSpPr>
          <p:cNvPr id="25" name="Freeform 25">
            <a:hlinkClick r:id="rId8" tooltip="https://www.linkedin.com/company/concept-simplified/"/>
          </p:cNvPr>
          <p:cNvSpPr/>
          <p:nvPr/>
        </p:nvSpPr>
        <p:spPr>
          <a:xfrm>
            <a:off x="6635746" y="10237525"/>
            <a:ext cx="284423" cy="284423"/>
          </a:xfrm>
          <a:custGeom>
            <a:avLst/>
            <a:gdLst/>
            <a:ahLst/>
            <a:cxnLst/>
            <a:rect l="l" t="t" r="r" b="b"/>
            <a:pathLst>
              <a:path w="284423" h="284423">
                <a:moveTo>
                  <a:pt x="0" y="0"/>
                </a:moveTo>
                <a:lnTo>
                  <a:pt x="284422" y="0"/>
                </a:lnTo>
                <a:lnTo>
                  <a:pt x="284422" y="284423"/>
                </a:lnTo>
                <a:lnTo>
                  <a:pt x="0" y="284423"/>
                </a:lnTo>
                <a:lnTo>
                  <a:pt x="0" y="0"/>
                </a:lnTo>
                <a:close/>
              </a:path>
            </a:pathLst>
          </a:custGeom>
          <a:blipFill>
            <a:blip r:embed="rId9"/>
            <a:stretch>
              <a:fillRect/>
            </a:stretch>
          </a:blipFill>
        </p:spPr>
      </p:sp>
      <p:sp>
        <p:nvSpPr>
          <p:cNvPr id="26" name="Freeform 26">
            <a:hlinkClick r:id="rId10" tooltip="https://www.collegesimplified.in"/>
          </p:cNvPr>
          <p:cNvSpPr/>
          <p:nvPr/>
        </p:nvSpPr>
        <p:spPr>
          <a:xfrm>
            <a:off x="3276557" y="10258811"/>
            <a:ext cx="263747" cy="263136"/>
          </a:xfrm>
          <a:custGeom>
            <a:avLst/>
            <a:gdLst/>
            <a:ahLst/>
            <a:cxnLst/>
            <a:rect l="l" t="t" r="r" b="b"/>
            <a:pathLst>
              <a:path w="263747" h="263136">
                <a:moveTo>
                  <a:pt x="0" y="0"/>
                </a:moveTo>
                <a:lnTo>
                  <a:pt x="263747" y="0"/>
                </a:lnTo>
                <a:lnTo>
                  <a:pt x="263747" y="263137"/>
                </a:lnTo>
                <a:lnTo>
                  <a:pt x="0" y="263137"/>
                </a:lnTo>
                <a:lnTo>
                  <a:pt x="0" y="0"/>
                </a:lnTo>
                <a:close/>
              </a:path>
            </a:pathLst>
          </a:custGeom>
          <a:blipFill>
            <a:blip r:embed="rId2"/>
            <a:stretch>
              <a:fillRect t="-116" b="-116"/>
            </a:stretch>
          </a:blipFill>
        </p:spPr>
      </p:sp>
      <p:sp>
        <p:nvSpPr>
          <p:cNvPr id="27" name="TextBox 27"/>
          <p:cNvSpPr txBox="1"/>
          <p:nvPr/>
        </p:nvSpPr>
        <p:spPr>
          <a:xfrm>
            <a:off x="1825123" y="10264215"/>
            <a:ext cx="1378270" cy="201226"/>
          </a:xfrm>
          <a:prstGeom prst="rect">
            <a:avLst/>
          </a:prstGeom>
        </p:spPr>
        <p:txBody>
          <a:bodyPr lIns="0" tIns="0" rIns="0" bIns="0" rtlCol="0" anchor="t">
            <a:spAutoFit/>
          </a:bodyPr>
          <a:lstStyle/>
          <a:p>
            <a:pPr marL="0" lvl="0" indent="0" algn="l">
              <a:lnSpc>
                <a:spcPts val="1655"/>
              </a:lnSpc>
              <a:spcBef>
                <a:spcPct val="0"/>
              </a:spcBef>
            </a:pPr>
            <a:r>
              <a:rPr lang="en-US" sz="1182" spc="23">
                <a:solidFill>
                  <a:srgbClr val="000000"/>
                </a:solidFill>
                <a:latin typeface="Poppins"/>
                <a:ea typeface="Poppins"/>
                <a:cs typeface="Poppins"/>
                <a:sym typeface="Poppins"/>
              </a:rPr>
              <a:t>+91 8591220422</a:t>
            </a:r>
          </a:p>
        </p:txBody>
      </p:sp>
      <p:sp>
        <p:nvSpPr>
          <p:cNvPr id="28" name="TextBox 28"/>
          <p:cNvSpPr txBox="1"/>
          <p:nvPr/>
        </p:nvSpPr>
        <p:spPr>
          <a:xfrm>
            <a:off x="3606979" y="10264215"/>
            <a:ext cx="1937228" cy="208099"/>
          </a:xfrm>
          <a:prstGeom prst="rect">
            <a:avLst/>
          </a:prstGeom>
        </p:spPr>
        <p:txBody>
          <a:bodyPr lIns="0" tIns="0" rIns="0" bIns="0" rtlCol="0" anchor="t">
            <a:spAutoFit/>
          </a:bodyPr>
          <a:lstStyle/>
          <a:p>
            <a:pPr marL="0" lvl="0" indent="0" algn="l">
              <a:lnSpc>
                <a:spcPts val="1654"/>
              </a:lnSpc>
              <a:spcBef>
                <a:spcPct val="0"/>
              </a:spcBef>
            </a:pPr>
            <a:r>
              <a:rPr lang="en-US" sz="1182" spc="23">
                <a:solidFill>
                  <a:srgbClr val="000000"/>
                </a:solidFill>
                <a:latin typeface="Poppins"/>
                <a:ea typeface="Poppins"/>
                <a:cs typeface="Poppins"/>
                <a:sym typeface="Poppins"/>
                <a:hlinkClick r:id="rId10" tooltip="https://www.collegesimplified.in"/>
              </a:rPr>
              <a:t>www.collegesimplified.in</a:t>
            </a:r>
          </a:p>
        </p:txBody>
      </p:sp>
      <p:sp>
        <p:nvSpPr>
          <p:cNvPr id="29" name="TextBox 29"/>
          <p:cNvSpPr txBox="1"/>
          <p:nvPr/>
        </p:nvSpPr>
        <p:spPr>
          <a:xfrm>
            <a:off x="364757" y="2729856"/>
            <a:ext cx="2367840" cy="222753"/>
          </a:xfrm>
          <a:prstGeom prst="rect">
            <a:avLst/>
          </a:prstGeom>
        </p:spPr>
        <p:txBody>
          <a:bodyPr lIns="0" tIns="0" rIns="0" bIns="0" rtlCol="0" anchor="t">
            <a:spAutoFit/>
          </a:bodyPr>
          <a:lstStyle/>
          <a:p>
            <a:pPr lvl="0">
              <a:lnSpc>
                <a:spcPts val="1819"/>
              </a:lnSpc>
              <a:spcBef>
                <a:spcPct val="0"/>
              </a:spcBef>
            </a:pPr>
            <a:r>
              <a:rPr lang="en-US" sz="1399" b="1" u="none" strike="noStrike" dirty="0">
                <a:solidFill>
                  <a:srgbClr val="000000"/>
                </a:solidFill>
                <a:latin typeface="Poppins Bold"/>
                <a:ea typeface="Poppins Bold"/>
                <a:cs typeface="Poppins Bold"/>
                <a:sym typeface="Poppins Bold"/>
              </a:rPr>
              <a:t>DATE: </a:t>
            </a:r>
            <a:r>
              <a:rPr lang="en-IN" sz="1400" dirty="0"/>
              <a:t>{{DATE}}</a:t>
            </a:r>
            <a:endParaRPr lang="en-US" sz="1399" b="1" u="none" strike="noStrike" dirty="0">
              <a:solidFill>
                <a:srgbClr val="000000"/>
              </a:solidFill>
              <a:latin typeface="Poppins Bold"/>
              <a:ea typeface="Poppins Bold"/>
              <a:cs typeface="Poppins Bold"/>
              <a:sym typeface="Poppins Bold"/>
            </a:endParaRPr>
          </a:p>
        </p:txBody>
      </p:sp>
      <p:sp>
        <p:nvSpPr>
          <p:cNvPr id="30" name="TextBox 30"/>
          <p:cNvSpPr txBox="1"/>
          <p:nvPr/>
        </p:nvSpPr>
        <p:spPr>
          <a:xfrm>
            <a:off x="5590510" y="2729856"/>
            <a:ext cx="1677774" cy="222753"/>
          </a:xfrm>
          <a:prstGeom prst="rect">
            <a:avLst/>
          </a:prstGeom>
        </p:spPr>
        <p:txBody>
          <a:bodyPr lIns="0" tIns="0" rIns="0" bIns="0" rtlCol="0" anchor="t">
            <a:spAutoFit/>
          </a:bodyPr>
          <a:lstStyle/>
          <a:p>
            <a:pPr lvl="0">
              <a:lnSpc>
                <a:spcPts val="1819"/>
              </a:lnSpc>
            </a:pPr>
            <a:r>
              <a:rPr lang="en-US" sz="1399" b="1" dirty="0">
                <a:solidFill>
                  <a:srgbClr val="000000"/>
                </a:solidFill>
                <a:latin typeface="Poppins Bold"/>
                <a:ea typeface="Poppins Bold"/>
                <a:cs typeface="Poppins Bold"/>
                <a:sym typeface="Poppins Bold"/>
              </a:rPr>
              <a:t>ID : </a:t>
            </a:r>
            <a:r>
              <a:rPr lang="en-IN" sz="1400" dirty="0"/>
              <a:t>{{ID}}</a:t>
            </a:r>
            <a:endParaRPr lang="en-US" sz="1399" b="1" dirty="0">
              <a:solidFill>
                <a:srgbClr val="000000"/>
              </a:solidFill>
              <a:latin typeface="Poppins Bold"/>
              <a:ea typeface="Poppins Bold"/>
              <a:cs typeface="Poppins Bold"/>
              <a:sym typeface="Poppins Bold"/>
            </a:endParaRPr>
          </a:p>
        </p:txBody>
      </p:sp>
      <p:sp>
        <p:nvSpPr>
          <p:cNvPr id="31" name="TextBox 31"/>
          <p:cNvSpPr txBox="1"/>
          <p:nvPr/>
        </p:nvSpPr>
        <p:spPr>
          <a:xfrm>
            <a:off x="2251571" y="1854608"/>
            <a:ext cx="3069465" cy="425527"/>
          </a:xfrm>
          <a:prstGeom prst="rect">
            <a:avLst/>
          </a:prstGeom>
        </p:spPr>
        <p:txBody>
          <a:bodyPr lIns="0" tIns="0" rIns="0" bIns="0" rtlCol="0" anchor="t">
            <a:spAutoFit/>
          </a:bodyPr>
          <a:lstStyle/>
          <a:p>
            <a:pPr marL="0" lvl="0" indent="0" algn="l">
              <a:lnSpc>
                <a:spcPts val="3496"/>
              </a:lnSpc>
              <a:spcBef>
                <a:spcPct val="0"/>
              </a:spcBef>
            </a:pPr>
            <a:r>
              <a:rPr lang="en-US" sz="2331" b="1" spc="139">
                <a:solidFill>
                  <a:srgbClr val="000000"/>
                </a:solidFill>
                <a:latin typeface="Poppins Medium Bold"/>
                <a:ea typeface="Poppins Medium Bold"/>
                <a:cs typeface="Poppins Medium Bold"/>
                <a:sym typeface="Poppins Medium Bold"/>
              </a:rPr>
              <a:t>INTERNSHIP LETTER</a:t>
            </a:r>
          </a:p>
        </p:txBody>
      </p:sp>
      <p:sp>
        <p:nvSpPr>
          <p:cNvPr id="32" name="TextBox 32"/>
          <p:cNvSpPr txBox="1"/>
          <p:nvPr/>
        </p:nvSpPr>
        <p:spPr>
          <a:xfrm>
            <a:off x="334540" y="3359563"/>
            <a:ext cx="6903527" cy="6528839"/>
          </a:xfrm>
          <a:prstGeom prst="rect">
            <a:avLst/>
          </a:prstGeom>
        </p:spPr>
        <p:txBody>
          <a:bodyPr lIns="0" tIns="0" rIns="0" bIns="0" rtlCol="0" anchor="t">
            <a:spAutoFit/>
          </a:bodyPr>
          <a:lstStyle/>
          <a:p>
            <a:pPr>
              <a:lnSpc>
                <a:spcPts val="1679"/>
              </a:lnSpc>
              <a:spcBef>
                <a:spcPct val="0"/>
              </a:spcBef>
            </a:pPr>
            <a:r>
              <a:rPr lang="en-US" sz="1200" b="1" dirty="0">
                <a:solidFill>
                  <a:srgbClr val="000000"/>
                </a:solidFill>
                <a:latin typeface="Poppins Bold"/>
                <a:ea typeface="Poppins Bold"/>
                <a:cs typeface="Poppins Bold"/>
                <a:sym typeface="Poppins Bold"/>
              </a:rPr>
              <a:t>Dear </a:t>
            </a:r>
            <a:r>
              <a:rPr lang="en-IN" sz="1200" dirty="0"/>
              <a:t>{{NAME}}</a:t>
            </a:r>
            <a:r>
              <a:rPr lang="en-US" sz="1200" b="1" dirty="0">
                <a:solidFill>
                  <a:srgbClr val="000000"/>
                </a:solidFill>
                <a:latin typeface="Poppins Bold"/>
                <a:ea typeface="Poppins Bold"/>
                <a:cs typeface="Poppins Bold"/>
                <a:sym typeface="Poppins Bold"/>
              </a:rPr>
              <a:t>,</a:t>
            </a:r>
          </a:p>
          <a:p>
            <a:pPr algn="l">
              <a:lnSpc>
                <a:spcPts val="1679"/>
              </a:lnSpc>
              <a:spcBef>
                <a:spcPct val="0"/>
              </a:spcBef>
            </a:pPr>
            <a:endParaRPr lang="en-US" sz="1200" b="1" dirty="0">
              <a:solidFill>
                <a:srgbClr val="000000"/>
              </a:solidFill>
              <a:latin typeface="Poppins Bold"/>
              <a:ea typeface="Poppins Bold"/>
              <a:cs typeface="Poppins Bold"/>
              <a:sym typeface="Poppins Bold"/>
            </a:endParaRPr>
          </a:p>
          <a:p>
            <a:pPr algn="l">
              <a:lnSpc>
                <a:spcPts val="1679"/>
              </a:lnSpc>
              <a:spcBef>
                <a:spcPct val="0"/>
              </a:spcBef>
            </a:pPr>
            <a:r>
              <a:rPr lang="en-US" sz="1200" dirty="0">
                <a:solidFill>
                  <a:srgbClr val="000000"/>
                </a:solidFill>
                <a:latin typeface="Poppins"/>
                <a:ea typeface="Poppins"/>
                <a:cs typeface="Poppins"/>
                <a:sym typeface="Poppins"/>
              </a:rPr>
              <a:t>We are pleased to offer you the position of Growth Intern at Concept Simplified. Your creativity and dedication to driving growth have impressed us, and we are excited to see your contributions during this internship.</a:t>
            </a:r>
          </a:p>
          <a:p>
            <a:pPr algn="l">
              <a:lnSpc>
                <a:spcPts val="1679"/>
              </a:lnSpc>
              <a:spcBef>
                <a:spcPct val="0"/>
              </a:spcBef>
            </a:pPr>
            <a:endParaRPr lang="en-US" sz="1200" dirty="0">
              <a:solidFill>
                <a:srgbClr val="000000"/>
              </a:solidFill>
              <a:latin typeface="Poppins"/>
              <a:ea typeface="Poppins"/>
              <a:cs typeface="Poppins"/>
              <a:sym typeface="Poppins"/>
            </a:endParaRPr>
          </a:p>
          <a:p>
            <a:pPr algn="l">
              <a:lnSpc>
                <a:spcPts val="1679"/>
              </a:lnSpc>
              <a:spcBef>
                <a:spcPct val="0"/>
              </a:spcBef>
            </a:pPr>
            <a:r>
              <a:rPr lang="en-US" sz="1200" b="1" dirty="0">
                <a:solidFill>
                  <a:srgbClr val="000000"/>
                </a:solidFill>
                <a:latin typeface="Poppins Bold"/>
                <a:ea typeface="Poppins Bold"/>
                <a:cs typeface="Poppins Bold"/>
                <a:sym typeface="Poppins Bold"/>
              </a:rPr>
              <a:t>Internship Overview</a:t>
            </a:r>
          </a:p>
          <a:p>
            <a:pPr algn="l">
              <a:lnSpc>
                <a:spcPts val="1679"/>
              </a:lnSpc>
              <a:spcBef>
                <a:spcPct val="0"/>
              </a:spcBef>
            </a:pPr>
            <a:endParaRPr lang="en-US" sz="1200" b="1" dirty="0">
              <a:solidFill>
                <a:srgbClr val="000000"/>
              </a:solidFill>
              <a:latin typeface="Poppins Bold"/>
              <a:ea typeface="Poppins Bold"/>
              <a:cs typeface="Poppins Bold"/>
              <a:sym typeface="Poppins Bold"/>
            </a:endParaRPr>
          </a:p>
          <a:p>
            <a:pPr algn="l">
              <a:lnSpc>
                <a:spcPts val="1679"/>
              </a:lnSpc>
              <a:spcBef>
                <a:spcPct val="0"/>
              </a:spcBef>
            </a:pPr>
            <a:r>
              <a:rPr lang="en-US" sz="1200" b="1" dirty="0">
                <a:solidFill>
                  <a:srgbClr val="000000"/>
                </a:solidFill>
                <a:latin typeface="Poppins Bold"/>
                <a:ea typeface="Poppins Bold"/>
                <a:cs typeface="Poppins Bold"/>
                <a:sym typeface="Poppins Bold"/>
              </a:rPr>
              <a:t>Position: </a:t>
            </a:r>
            <a:r>
              <a:rPr lang="en-US" sz="1200" dirty="0">
                <a:solidFill>
                  <a:srgbClr val="000000"/>
                </a:solidFill>
                <a:latin typeface="Poppins"/>
                <a:ea typeface="Poppins"/>
                <a:cs typeface="Poppins"/>
                <a:sym typeface="Poppins"/>
              </a:rPr>
              <a:t>Growth Intern</a:t>
            </a:r>
          </a:p>
          <a:p>
            <a:pPr>
              <a:lnSpc>
                <a:spcPts val="1679"/>
              </a:lnSpc>
              <a:spcBef>
                <a:spcPct val="0"/>
              </a:spcBef>
            </a:pPr>
            <a:r>
              <a:rPr lang="en-US" sz="1200" b="1" dirty="0">
                <a:solidFill>
                  <a:srgbClr val="000000"/>
                </a:solidFill>
                <a:latin typeface="Poppins Bold"/>
                <a:ea typeface="Poppins Bold"/>
                <a:cs typeface="Poppins Bold"/>
                <a:sym typeface="Poppins Bold"/>
              </a:rPr>
              <a:t>Start Date:</a:t>
            </a:r>
            <a:r>
              <a:rPr lang="en-US" sz="1200" dirty="0">
                <a:solidFill>
                  <a:srgbClr val="000000"/>
                </a:solidFill>
                <a:latin typeface="Poppins"/>
                <a:ea typeface="Poppins"/>
                <a:cs typeface="Poppins"/>
                <a:sym typeface="Poppins"/>
              </a:rPr>
              <a:t> </a:t>
            </a:r>
            <a:r>
              <a:rPr lang="en-IN" sz="1200" dirty="0"/>
              <a:t>{{START_DATE}}</a:t>
            </a:r>
            <a:endParaRPr lang="en-US" sz="1200" dirty="0">
              <a:solidFill>
                <a:srgbClr val="000000"/>
              </a:solidFill>
              <a:latin typeface="Poppins"/>
              <a:ea typeface="Poppins"/>
              <a:cs typeface="Poppins"/>
              <a:sym typeface="Poppins"/>
            </a:endParaRPr>
          </a:p>
          <a:p>
            <a:pPr>
              <a:lnSpc>
                <a:spcPts val="1679"/>
              </a:lnSpc>
              <a:spcBef>
                <a:spcPct val="0"/>
              </a:spcBef>
            </a:pPr>
            <a:r>
              <a:rPr lang="en-US" sz="1200" b="1" dirty="0">
                <a:solidFill>
                  <a:srgbClr val="000000"/>
                </a:solidFill>
                <a:latin typeface="Poppins Bold"/>
                <a:ea typeface="Poppins Bold"/>
                <a:cs typeface="Poppins Bold"/>
                <a:sym typeface="Poppins Bold"/>
              </a:rPr>
              <a:t>End Date:</a:t>
            </a:r>
            <a:r>
              <a:rPr lang="en-US" sz="1200" dirty="0">
                <a:solidFill>
                  <a:srgbClr val="000000"/>
                </a:solidFill>
                <a:latin typeface="Poppins"/>
                <a:ea typeface="Poppins"/>
                <a:cs typeface="Poppins"/>
                <a:sym typeface="Poppins"/>
              </a:rPr>
              <a:t> </a:t>
            </a:r>
            <a:r>
              <a:rPr lang="en-IN" sz="1200" dirty="0"/>
              <a:t>{{END_DATE}}</a:t>
            </a:r>
            <a:endParaRPr lang="en-US" sz="1200" dirty="0">
              <a:solidFill>
                <a:srgbClr val="000000"/>
              </a:solidFill>
              <a:latin typeface="Poppins"/>
              <a:ea typeface="Poppins"/>
              <a:cs typeface="Poppins"/>
              <a:sym typeface="Poppins"/>
            </a:endParaRPr>
          </a:p>
          <a:p>
            <a:pPr algn="l">
              <a:lnSpc>
                <a:spcPts val="1679"/>
              </a:lnSpc>
              <a:spcBef>
                <a:spcPct val="0"/>
              </a:spcBef>
            </a:pPr>
            <a:r>
              <a:rPr lang="en-US" sz="1200" b="1" dirty="0">
                <a:solidFill>
                  <a:srgbClr val="000000"/>
                </a:solidFill>
                <a:latin typeface="Poppins Bold"/>
                <a:ea typeface="Poppins Bold"/>
                <a:cs typeface="Poppins Bold"/>
                <a:sym typeface="Poppins Bold"/>
              </a:rPr>
              <a:t>Duration:</a:t>
            </a:r>
            <a:r>
              <a:rPr lang="en-US" sz="1200" dirty="0">
                <a:solidFill>
                  <a:srgbClr val="000000"/>
                </a:solidFill>
                <a:latin typeface="Poppins"/>
                <a:ea typeface="Poppins"/>
                <a:cs typeface="Poppins"/>
                <a:sym typeface="Poppins"/>
              </a:rPr>
              <a:t> 6 Months</a:t>
            </a:r>
          </a:p>
          <a:p>
            <a:pPr algn="l">
              <a:lnSpc>
                <a:spcPts val="1679"/>
              </a:lnSpc>
              <a:spcBef>
                <a:spcPct val="0"/>
              </a:spcBef>
            </a:pPr>
            <a:r>
              <a:rPr lang="en-US" sz="1200" b="1" dirty="0">
                <a:solidFill>
                  <a:srgbClr val="000000"/>
                </a:solidFill>
                <a:latin typeface="Poppins Bold"/>
                <a:ea typeface="Poppins Bold"/>
                <a:cs typeface="Poppins Bold"/>
                <a:sym typeface="Poppins Bold"/>
              </a:rPr>
              <a:t>Work Schedule:</a:t>
            </a:r>
            <a:r>
              <a:rPr lang="en-US" sz="1200" dirty="0">
                <a:solidFill>
                  <a:srgbClr val="000000"/>
                </a:solidFill>
                <a:latin typeface="Poppins"/>
                <a:ea typeface="Poppins"/>
                <a:cs typeface="Poppins"/>
                <a:sym typeface="Poppins"/>
              </a:rPr>
              <a:t> 6 Days per Week (Hybrid)</a:t>
            </a:r>
          </a:p>
          <a:p>
            <a:pPr>
              <a:lnSpc>
                <a:spcPts val="1679"/>
              </a:lnSpc>
              <a:spcBef>
                <a:spcPct val="0"/>
              </a:spcBef>
            </a:pPr>
            <a:r>
              <a:rPr lang="en-US" sz="1200" b="1" dirty="0">
                <a:solidFill>
                  <a:srgbClr val="000000"/>
                </a:solidFill>
                <a:latin typeface="Poppins Bold"/>
                <a:ea typeface="Poppins Bold"/>
                <a:cs typeface="Poppins Bold"/>
                <a:sym typeface="Poppins Bold"/>
              </a:rPr>
              <a:t>Stipend:</a:t>
            </a:r>
            <a:r>
              <a:rPr lang="en-US" sz="1200" dirty="0">
                <a:solidFill>
                  <a:srgbClr val="000000"/>
                </a:solidFill>
                <a:latin typeface="Poppins"/>
                <a:ea typeface="Poppins"/>
                <a:cs typeface="Poppins"/>
                <a:sym typeface="Poppins"/>
              </a:rPr>
              <a:t> ₹ </a:t>
            </a:r>
            <a:r>
              <a:rPr lang="en-IN" sz="1200" dirty="0"/>
              <a:t>{{SALARY}}</a:t>
            </a:r>
            <a:endParaRPr lang="en-US" sz="1200" dirty="0">
              <a:solidFill>
                <a:srgbClr val="000000"/>
              </a:solidFill>
              <a:latin typeface="Poppins"/>
              <a:ea typeface="Poppins"/>
              <a:cs typeface="Poppins"/>
              <a:sym typeface="Poppins"/>
            </a:endParaRPr>
          </a:p>
          <a:p>
            <a:pPr algn="l">
              <a:lnSpc>
                <a:spcPts val="1679"/>
              </a:lnSpc>
              <a:spcBef>
                <a:spcPct val="0"/>
              </a:spcBef>
            </a:pPr>
            <a:r>
              <a:rPr lang="en-US" sz="1200" b="1" dirty="0">
                <a:solidFill>
                  <a:srgbClr val="000000"/>
                </a:solidFill>
                <a:latin typeface="Poppins Bold"/>
                <a:ea typeface="Poppins Bold"/>
                <a:cs typeface="Poppins Bold"/>
                <a:sym typeface="Poppins Bold"/>
              </a:rPr>
              <a:t>Reporting Manager:</a:t>
            </a:r>
            <a:r>
              <a:rPr lang="en-US" sz="1200" dirty="0">
                <a:solidFill>
                  <a:srgbClr val="000000"/>
                </a:solidFill>
                <a:latin typeface="Poppins"/>
                <a:ea typeface="Poppins"/>
                <a:cs typeface="Poppins"/>
                <a:sym typeface="Poppins"/>
              </a:rPr>
              <a:t> </a:t>
            </a:r>
            <a:r>
              <a:rPr lang="en-US" sz="1200" dirty="0" err="1">
                <a:solidFill>
                  <a:srgbClr val="000000"/>
                </a:solidFill>
                <a:latin typeface="Poppins"/>
                <a:ea typeface="Poppins"/>
                <a:cs typeface="Poppins"/>
                <a:sym typeface="Poppins"/>
              </a:rPr>
              <a:t>Samkit</a:t>
            </a:r>
            <a:r>
              <a:rPr lang="en-US" sz="1200" dirty="0">
                <a:solidFill>
                  <a:srgbClr val="000000"/>
                </a:solidFill>
                <a:latin typeface="Poppins"/>
                <a:ea typeface="Poppins"/>
                <a:cs typeface="Poppins"/>
                <a:sym typeface="Poppins"/>
              </a:rPr>
              <a:t> Shah </a:t>
            </a:r>
          </a:p>
          <a:p>
            <a:pPr algn="l">
              <a:lnSpc>
                <a:spcPts val="1679"/>
              </a:lnSpc>
              <a:spcBef>
                <a:spcPct val="0"/>
              </a:spcBef>
            </a:pPr>
            <a:endParaRPr lang="en-US" sz="1200" dirty="0">
              <a:solidFill>
                <a:srgbClr val="000000"/>
              </a:solidFill>
              <a:latin typeface="Poppins"/>
              <a:ea typeface="Poppins"/>
              <a:cs typeface="Poppins"/>
              <a:sym typeface="Poppins"/>
            </a:endParaRPr>
          </a:p>
          <a:p>
            <a:pPr algn="l">
              <a:lnSpc>
                <a:spcPts val="1679"/>
              </a:lnSpc>
              <a:spcBef>
                <a:spcPct val="0"/>
              </a:spcBef>
            </a:pPr>
            <a:r>
              <a:rPr lang="en-US" sz="1200" dirty="0">
                <a:solidFill>
                  <a:srgbClr val="000000"/>
                </a:solidFill>
                <a:latin typeface="Poppins"/>
                <a:ea typeface="Poppins"/>
                <a:cs typeface="Poppins"/>
                <a:sym typeface="Poppins"/>
              </a:rPr>
              <a:t>This internship provides a fantastic opportunity to work on real-world projects, develop innovative strategies, and enhance your professional skills in a flexible remote work environment.</a:t>
            </a:r>
          </a:p>
          <a:p>
            <a:pPr algn="l">
              <a:lnSpc>
                <a:spcPts val="1679"/>
              </a:lnSpc>
              <a:spcBef>
                <a:spcPct val="0"/>
              </a:spcBef>
            </a:pPr>
            <a:endParaRPr lang="en-US" sz="1200" dirty="0">
              <a:solidFill>
                <a:srgbClr val="000000"/>
              </a:solidFill>
              <a:latin typeface="Poppins"/>
              <a:ea typeface="Poppins"/>
              <a:cs typeface="Poppins"/>
              <a:sym typeface="Poppins"/>
            </a:endParaRPr>
          </a:p>
          <a:p>
            <a:pPr algn="l">
              <a:lnSpc>
                <a:spcPts val="1679"/>
              </a:lnSpc>
              <a:spcBef>
                <a:spcPct val="0"/>
              </a:spcBef>
            </a:pPr>
            <a:r>
              <a:rPr lang="en-US" sz="1200" b="1" dirty="0">
                <a:solidFill>
                  <a:srgbClr val="000000"/>
                </a:solidFill>
                <a:latin typeface="Poppins Bold"/>
                <a:ea typeface="Poppins Bold"/>
                <a:cs typeface="Poppins Bold"/>
                <a:sym typeface="Poppins Bold"/>
              </a:rPr>
              <a:t>Key Responsibilities</a:t>
            </a:r>
          </a:p>
          <a:p>
            <a:pPr algn="l">
              <a:lnSpc>
                <a:spcPts val="1679"/>
              </a:lnSpc>
              <a:spcBef>
                <a:spcPct val="0"/>
              </a:spcBef>
            </a:pPr>
            <a:endParaRPr lang="en-US" sz="1200" b="1" dirty="0">
              <a:solidFill>
                <a:srgbClr val="000000"/>
              </a:solidFill>
              <a:latin typeface="Poppins Bold"/>
              <a:ea typeface="Poppins Bold"/>
              <a:cs typeface="Poppins Bold"/>
              <a:sym typeface="Poppins Bold"/>
            </a:endParaRPr>
          </a:p>
          <a:p>
            <a:pPr algn="l">
              <a:lnSpc>
                <a:spcPts val="1679"/>
              </a:lnSpc>
              <a:spcBef>
                <a:spcPct val="0"/>
              </a:spcBef>
            </a:pPr>
            <a:r>
              <a:rPr lang="en-US" sz="1200" dirty="0">
                <a:solidFill>
                  <a:srgbClr val="000000"/>
                </a:solidFill>
                <a:latin typeface="Poppins"/>
                <a:ea typeface="Poppins"/>
                <a:cs typeface="Poppins"/>
                <a:sym typeface="Poppins"/>
              </a:rPr>
              <a:t>As a Growth Intern, your primary responsibilities will include:</a:t>
            </a:r>
          </a:p>
          <a:p>
            <a:pPr marL="259080" lvl="1" indent="-129540" algn="l">
              <a:lnSpc>
                <a:spcPts val="1679"/>
              </a:lnSpc>
              <a:buFont typeface="Arial"/>
              <a:buChar char="•"/>
            </a:pPr>
            <a:r>
              <a:rPr lang="en-US" sz="1200" dirty="0">
                <a:solidFill>
                  <a:srgbClr val="000000"/>
                </a:solidFill>
                <a:latin typeface="Poppins"/>
                <a:ea typeface="Poppins"/>
                <a:cs typeface="Poppins"/>
                <a:sym typeface="Poppins"/>
              </a:rPr>
              <a:t>Assisting in planning and executing Product campaigns and operation to boost user acquisition and performance.</a:t>
            </a:r>
          </a:p>
          <a:p>
            <a:pPr marL="259080" lvl="1" indent="-129540" algn="l">
              <a:lnSpc>
                <a:spcPts val="1679"/>
              </a:lnSpc>
              <a:buFont typeface="Arial"/>
              <a:buChar char="•"/>
            </a:pPr>
            <a:r>
              <a:rPr lang="en-US" sz="1200" dirty="0">
                <a:solidFill>
                  <a:srgbClr val="000000"/>
                </a:solidFill>
                <a:latin typeface="Poppins"/>
                <a:ea typeface="Poppins"/>
                <a:cs typeface="Poppins"/>
                <a:sym typeface="Poppins"/>
              </a:rPr>
              <a:t>Conducting market research to identify growth opportunities.</a:t>
            </a:r>
          </a:p>
          <a:p>
            <a:pPr marL="259080" lvl="1" indent="-129540" algn="l">
              <a:lnSpc>
                <a:spcPts val="1679"/>
              </a:lnSpc>
              <a:buFont typeface="Arial"/>
              <a:buChar char="•"/>
            </a:pPr>
            <a:r>
              <a:rPr lang="en-US" sz="1200" dirty="0">
                <a:solidFill>
                  <a:srgbClr val="000000"/>
                </a:solidFill>
                <a:latin typeface="Poppins"/>
                <a:ea typeface="Poppins"/>
                <a:cs typeface="Poppins"/>
                <a:sym typeface="Poppins"/>
              </a:rPr>
              <a:t>Collaborating on content creation and outreach strategies.</a:t>
            </a:r>
          </a:p>
          <a:p>
            <a:pPr marL="259080" lvl="1" indent="-129540" algn="l">
              <a:lnSpc>
                <a:spcPts val="1679"/>
              </a:lnSpc>
              <a:buFont typeface="Arial"/>
              <a:buChar char="•"/>
            </a:pPr>
            <a:r>
              <a:rPr lang="en-US" sz="1200" dirty="0">
                <a:solidFill>
                  <a:srgbClr val="000000"/>
                </a:solidFill>
                <a:latin typeface="Poppins"/>
                <a:ea typeface="Poppins"/>
                <a:cs typeface="Poppins"/>
                <a:sym typeface="Poppins"/>
              </a:rPr>
              <a:t>Monitoring and analyzing performance metrics to optimize campaigns.</a:t>
            </a:r>
          </a:p>
          <a:p>
            <a:pPr marL="259080" lvl="1" indent="-129540" algn="l">
              <a:lnSpc>
                <a:spcPts val="1679"/>
              </a:lnSpc>
              <a:buFont typeface="Arial"/>
              <a:buChar char="•"/>
            </a:pPr>
            <a:r>
              <a:rPr lang="en-US" sz="1200" dirty="0">
                <a:solidFill>
                  <a:srgbClr val="000000"/>
                </a:solidFill>
                <a:latin typeface="Poppins"/>
                <a:ea typeface="Poppins"/>
                <a:cs typeface="Poppins"/>
                <a:sym typeface="Poppins"/>
              </a:rPr>
              <a:t>Supporting the team in exploring creative solutions to growth challenges.</a:t>
            </a:r>
          </a:p>
          <a:p>
            <a:pPr algn="l">
              <a:lnSpc>
                <a:spcPts val="1679"/>
              </a:lnSpc>
            </a:pPr>
            <a:endParaRPr lang="en-US" sz="1200" dirty="0">
              <a:solidFill>
                <a:srgbClr val="000000"/>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5996723" y="-1521403"/>
            <a:ext cx="2482687" cy="2172352"/>
            <a:chOff x="0" y="0"/>
            <a:chExt cx="812800" cy="711200"/>
          </a:xfrm>
        </p:grpSpPr>
        <p:sp>
          <p:nvSpPr>
            <p:cNvPr id="3" name="Freeform 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F0000"/>
            </a:solidFill>
          </p:spPr>
        </p:sp>
        <p:sp>
          <p:nvSpPr>
            <p:cNvPr id="4" name="TextBox 4"/>
            <p:cNvSpPr txBox="1"/>
            <p:nvPr/>
          </p:nvSpPr>
          <p:spPr>
            <a:xfrm>
              <a:off x="127000" y="301625"/>
              <a:ext cx="558800" cy="358775"/>
            </a:xfrm>
            <a:prstGeom prst="rect">
              <a:avLst/>
            </a:prstGeom>
          </p:spPr>
          <p:txBody>
            <a:bodyPr lIns="50800" tIns="50800" rIns="50800" bIns="50800" rtlCol="0" anchor="ctr"/>
            <a:lstStyle/>
            <a:p>
              <a:pPr algn="ctr">
                <a:lnSpc>
                  <a:spcPts val="1960"/>
                </a:lnSpc>
                <a:spcBef>
                  <a:spcPct val="0"/>
                </a:spcBef>
              </a:pPr>
              <a:endParaRPr/>
            </a:p>
          </p:txBody>
        </p:sp>
      </p:grpSp>
      <p:grpSp>
        <p:nvGrpSpPr>
          <p:cNvPr id="5" name="Group 5"/>
          <p:cNvGrpSpPr/>
          <p:nvPr/>
        </p:nvGrpSpPr>
        <p:grpSpPr>
          <a:xfrm>
            <a:off x="-873698" y="9973006"/>
            <a:ext cx="2476910" cy="2167296"/>
            <a:chOff x="0" y="0"/>
            <a:chExt cx="812800" cy="711200"/>
          </a:xfrm>
        </p:grpSpPr>
        <p:sp>
          <p:nvSpPr>
            <p:cNvPr id="6" name="Freeform 6"/>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F0000"/>
            </a:solidFill>
          </p:spPr>
        </p:sp>
        <p:sp>
          <p:nvSpPr>
            <p:cNvPr id="7" name="TextBox 7"/>
            <p:cNvSpPr txBox="1"/>
            <p:nvPr/>
          </p:nvSpPr>
          <p:spPr>
            <a:xfrm>
              <a:off x="127000" y="301625"/>
              <a:ext cx="558800" cy="358775"/>
            </a:xfrm>
            <a:prstGeom prst="rect">
              <a:avLst/>
            </a:prstGeom>
          </p:spPr>
          <p:txBody>
            <a:bodyPr lIns="50800" tIns="50800" rIns="50800" bIns="50800" rtlCol="0" anchor="ctr"/>
            <a:lstStyle/>
            <a:p>
              <a:pPr algn="ctr">
                <a:lnSpc>
                  <a:spcPts val="1960"/>
                </a:lnSpc>
                <a:spcBef>
                  <a:spcPct val="0"/>
                </a:spcBef>
              </a:pPr>
              <a:endParaRPr/>
            </a:p>
          </p:txBody>
        </p:sp>
      </p:grpSp>
      <p:grpSp>
        <p:nvGrpSpPr>
          <p:cNvPr id="8" name="Group 8"/>
          <p:cNvGrpSpPr/>
          <p:nvPr/>
        </p:nvGrpSpPr>
        <p:grpSpPr>
          <a:xfrm>
            <a:off x="7138540" y="-1661152"/>
            <a:ext cx="2427920" cy="2124430"/>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BC1823"/>
            </a:solidFill>
          </p:spPr>
        </p:sp>
        <p:sp>
          <p:nvSpPr>
            <p:cNvPr id="10" name="TextBox 10"/>
            <p:cNvSpPr txBox="1"/>
            <p:nvPr/>
          </p:nvSpPr>
          <p:spPr>
            <a:xfrm>
              <a:off x="127000" y="301625"/>
              <a:ext cx="558800" cy="358775"/>
            </a:xfrm>
            <a:prstGeom prst="rect">
              <a:avLst/>
            </a:prstGeom>
          </p:spPr>
          <p:txBody>
            <a:bodyPr lIns="50800" tIns="50800" rIns="50800" bIns="50800" rtlCol="0" anchor="ctr"/>
            <a:lstStyle/>
            <a:p>
              <a:pPr algn="ctr">
                <a:lnSpc>
                  <a:spcPts val="1960"/>
                </a:lnSpc>
                <a:spcBef>
                  <a:spcPct val="0"/>
                </a:spcBef>
              </a:pPr>
              <a:endParaRPr/>
            </a:p>
          </p:txBody>
        </p:sp>
      </p:grpSp>
      <p:grpSp>
        <p:nvGrpSpPr>
          <p:cNvPr id="11" name="Group 11"/>
          <p:cNvGrpSpPr/>
          <p:nvPr/>
        </p:nvGrpSpPr>
        <p:grpSpPr>
          <a:xfrm rot="-10800000">
            <a:off x="-2112153" y="9973006"/>
            <a:ext cx="2476910" cy="2167296"/>
            <a:chOff x="0" y="0"/>
            <a:chExt cx="812800" cy="711200"/>
          </a:xfrm>
        </p:grpSpPr>
        <p:sp>
          <p:nvSpPr>
            <p:cNvPr id="12" name="Freeform 12"/>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BC1823"/>
            </a:solidFill>
          </p:spPr>
        </p:sp>
        <p:sp>
          <p:nvSpPr>
            <p:cNvPr id="13" name="TextBox 13"/>
            <p:cNvSpPr txBox="1"/>
            <p:nvPr/>
          </p:nvSpPr>
          <p:spPr>
            <a:xfrm>
              <a:off x="127000" y="301625"/>
              <a:ext cx="558800" cy="358775"/>
            </a:xfrm>
            <a:prstGeom prst="rect">
              <a:avLst/>
            </a:prstGeom>
          </p:spPr>
          <p:txBody>
            <a:bodyPr lIns="50800" tIns="50800" rIns="50800" bIns="50800" rtlCol="0" anchor="ctr"/>
            <a:lstStyle/>
            <a:p>
              <a:pPr algn="ctr">
                <a:lnSpc>
                  <a:spcPts val="1960"/>
                </a:lnSpc>
                <a:spcBef>
                  <a:spcPct val="0"/>
                </a:spcBef>
              </a:pPr>
              <a:endParaRPr/>
            </a:p>
          </p:txBody>
        </p:sp>
      </p:grpSp>
      <p:grpSp>
        <p:nvGrpSpPr>
          <p:cNvPr id="14" name="Group 14"/>
          <p:cNvGrpSpPr/>
          <p:nvPr/>
        </p:nvGrpSpPr>
        <p:grpSpPr>
          <a:xfrm rot="-10800000">
            <a:off x="7097260" y="416101"/>
            <a:ext cx="2376175" cy="2171374"/>
            <a:chOff x="0" y="0"/>
            <a:chExt cx="812800" cy="742745"/>
          </a:xfrm>
        </p:grpSpPr>
        <p:sp>
          <p:nvSpPr>
            <p:cNvPr id="15" name="Freeform 15"/>
            <p:cNvSpPr/>
            <p:nvPr/>
          </p:nvSpPr>
          <p:spPr>
            <a:xfrm>
              <a:off x="0" y="0"/>
              <a:ext cx="812800" cy="742745"/>
            </a:xfrm>
            <a:custGeom>
              <a:avLst/>
              <a:gdLst/>
              <a:ahLst/>
              <a:cxnLst/>
              <a:rect l="l" t="t" r="r" b="b"/>
              <a:pathLst>
                <a:path w="812800" h="742745">
                  <a:moveTo>
                    <a:pt x="406400" y="0"/>
                  </a:moveTo>
                  <a:lnTo>
                    <a:pt x="812800" y="742745"/>
                  </a:lnTo>
                  <a:lnTo>
                    <a:pt x="0" y="742745"/>
                  </a:lnTo>
                  <a:lnTo>
                    <a:pt x="406400" y="0"/>
                  </a:lnTo>
                  <a:close/>
                </a:path>
              </a:pathLst>
            </a:custGeom>
            <a:solidFill>
              <a:srgbClr val="EF3A5D"/>
            </a:solidFill>
          </p:spPr>
        </p:sp>
        <p:sp>
          <p:nvSpPr>
            <p:cNvPr id="16" name="TextBox 16"/>
            <p:cNvSpPr txBox="1"/>
            <p:nvPr/>
          </p:nvSpPr>
          <p:spPr>
            <a:xfrm>
              <a:off x="127000" y="316271"/>
              <a:ext cx="558800" cy="373421"/>
            </a:xfrm>
            <a:prstGeom prst="rect">
              <a:avLst/>
            </a:prstGeom>
          </p:spPr>
          <p:txBody>
            <a:bodyPr lIns="50800" tIns="50800" rIns="50800" bIns="50800" rtlCol="0" anchor="ctr"/>
            <a:lstStyle/>
            <a:p>
              <a:pPr algn="ctr">
                <a:lnSpc>
                  <a:spcPts val="1960"/>
                </a:lnSpc>
                <a:spcBef>
                  <a:spcPct val="0"/>
                </a:spcBef>
              </a:pPr>
              <a:endParaRPr/>
            </a:p>
          </p:txBody>
        </p:sp>
      </p:grpSp>
      <p:grpSp>
        <p:nvGrpSpPr>
          <p:cNvPr id="17" name="Group 17"/>
          <p:cNvGrpSpPr/>
          <p:nvPr/>
        </p:nvGrpSpPr>
        <p:grpSpPr>
          <a:xfrm>
            <a:off x="-1831875" y="8073068"/>
            <a:ext cx="2229106" cy="1950467"/>
            <a:chOff x="0" y="0"/>
            <a:chExt cx="812800" cy="711200"/>
          </a:xfrm>
        </p:grpSpPr>
        <p:sp>
          <p:nvSpPr>
            <p:cNvPr id="18" name="Freeform 18"/>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EF3A5D"/>
            </a:solidFill>
          </p:spPr>
        </p:sp>
        <p:sp>
          <p:nvSpPr>
            <p:cNvPr id="19" name="TextBox 19"/>
            <p:cNvSpPr txBox="1"/>
            <p:nvPr/>
          </p:nvSpPr>
          <p:spPr>
            <a:xfrm>
              <a:off x="127000" y="301625"/>
              <a:ext cx="558800" cy="358775"/>
            </a:xfrm>
            <a:prstGeom prst="rect">
              <a:avLst/>
            </a:prstGeom>
          </p:spPr>
          <p:txBody>
            <a:bodyPr lIns="50800" tIns="50800" rIns="50800" bIns="50800" rtlCol="0" anchor="ctr"/>
            <a:lstStyle/>
            <a:p>
              <a:pPr algn="ctr">
                <a:lnSpc>
                  <a:spcPts val="1960"/>
                </a:lnSpc>
                <a:spcBef>
                  <a:spcPct val="0"/>
                </a:spcBef>
              </a:pPr>
              <a:endParaRPr/>
            </a:p>
          </p:txBody>
        </p:sp>
      </p:grpSp>
      <p:sp>
        <p:nvSpPr>
          <p:cNvPr id="20" name="Freeform 20"/>
          <p:cNvSpPr/>
          <p:nvPr/>
        </p:nvSpPr>
        <p:spPr>
          <a:xfrm>
            <a:off x="756000" y="409472"/>
            <a:ext cx="1174660" cy="1171941"/>
          </a:xfrm>
          <a:custGeom>
            <a:avLst/>
            <a:gdLst/>
            <a:ahLst/>
            <a:cxnLst/>
            <a:rect l="l" t="t" r="r" b="b"/>
            <a:pathLst>
              <a:path w="1174660" h="1171941">
                <a:moveTo>
                  <a:pt x="0" y="0"/>
                </a:moveTo>
                <a:lnTo>
                  <a:pt x="1174660" y="0"/>
                </a:lnTo>
                <a:lnTo>
                  <a:pt x="1174660" y="1171941"/>
                </a:lnTo>
                <a:lnTo>
                  <a:pt x="0" y="1171941"/>
                </a:lnTo>
                <a:lnTo>
                  <a:pt x="0" y="0"/>
                </a:lnTo>
                <a:close/>
              </a:path>
            </a:pathLst>
          </a:custGeom>
          <a:blipFill>
            <a:blip r:embed="rId2"/>
            <a:stretch>
              <a:fillRect t="-116" b="-116"/>
            </a:stretch>
          </a:blipFill>
        </p:spPr>
      </p:sp>
      <p:sp>
        <p:nvSpPr>
          <p:cNvPr id="21" name="TextBox 21"/>
          <p:cNvSpPr txBox="1"/>
          <p:nvPr/>
        </p:nvSpPr>
        <p:spPr>
          <a:xfrm>
            <a:off x="1439376" y="414797"/>
            <a:ext cx="5076651" cy="1166616"/>
          </a:xfrm>
          <a:prstGeom prst="rect">
            <a:avLst/>
          </a:prstGeom>
        </p:spPr>
        <p:txBody>
          <a:bodyPr lIns="0" tIns="0" rIns="0" bIns="0" rtlCol="0" anchor="t">
            <a:spAutoFit/>
          </a:bodyPr>
          <a:lstStyle/>
          <a:p>
            <a:pPr algn="ctr">
              <a:lnSpc>
                <a:spcPts val="4370"/>
              </a:lnSpc>
            </a:pPr>
            <a:r>
              <a:rPr lang="en-US" sz="4505" b="1" spc="225">
                <a:solidFill>
                  <a:srgbClr val="000000"/>
                </a:solidFill>
                <a:latin typeface="Poppins Bold"/>
                <a:ea typeface="Poppins Bold"/>
                <a:cs typeface="Poppins Bold"/>
                <a:sym typeface="Poppins Bold"/>
              </a:rPr>
              <a:t>CONCEPT </a:t>
            </a:r>
          </a:p>
          <a:p>
            <a:pPr marL="0" lvl="0" indent="0" algn="ctr">
              <a:lnSpc>
                <a:spcPts val="4370"/>
              </a:lnSpc>
            </a:pPr>
            <a:r>
              <a:rPr lang="en-US" sz="4505" b="1" spc="225">
                <a:solidFill>
                  <a:srgbClr val="000000"/>
                </a:solidFill>
                <a:latin typeface="Poppins Bold"/>
                <a:ea typeface="Poppins Bold"/>
                <a:cs typeface="Poppins Bold"/>
                <a:sym typeface="Poppins Bold"/>
              </a:rPr>
              <a:t>SIMPLIFIED</a:t>
            </a:r>
          </a:p>
        </p:txBody>
      </p:sp>
      <p:sp>
        <p:nvSpPr>
          <p:cNvPr id="22" name="Freeform 22"/>
          <p:cNvSpPr/>
          <p:nvPr/>
        </p:nvSpPr>
        <p:spPr>
          <a:xfrm>
            <a:off x="1526207" y="10255846"/>
            <a:ext cx="233824" cy="233824"/>
          </a:xfrm>
          <a:custGeom>
            <a:avLst/>
            <a:gdLst/>
            <a:ahLst/>
            <a:cxnLst/>
            <a:rect l="l" t="t" r="r" b="b"/>
            <a:pathLst>
              <a:path w="233824" h="233824">
                <a:moveTo>
                  <a:pt x="0" y="0"/>
                </a:moveTo>
                <a:lnTo>
                  <a:pt x="233824" y="0"/>
                </a:lnTo>
                <a:lnTo>
                  <a:pt x="233824" y="233824"/>
                </a:lnTo>
                <a:lnTo>
                  <a:pt x="0" y="23382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23" name="Freeform 23">
            <a:hlinkClick r:id="rId4" tooltip="https://www.instagram.com/college_simplified/"/>
          </p:cNvPr>
          <p:cNvSpPr/>
          <p:nvPr/>
        </p:nvSpPr>
        <p:spPr>
          <a:xfrm>
            <a:off x="5854790" y="10236127"/>
            <a:ext cx="283867" cy="285821"/>
          </a:xfrm>
          <a:custGeom>
            <a:avLst/>
            <a:gdLst/>
            <a:ahLst/>
            <a:cxnLst/>
            <a:rect l="l" t="t" r="r" b="b"/>
            <a:pathLst>
              <a:path w="283867" h="285821">
                <a:moveTo>
                  <a:pt x="0" y="0"/>
                </a:moveTo>
                <a:lnTo>
                  <a:pt x="283867" y="0"/>
                </a:lnTo>
                <a:lnTo>
                  <a:pt x="283867" y="285821"/>
                </a:lnTo>
                <a:lnTo>
                  <a:pt x="0" y="285821"/>
                </a:lnTo>
                <a:lnTo>
                  <a:pt x="0" y="0"/>
                </a:lnTo>
                <a:close/>
              </a:path>
            </a:pathLst>
          </a:custGeom>
          <a:blipFill>
            <a:blip r:embed="rId5"/>
            <a:stretch>
              <a:fillRect l="-31041" r="-30515"/>
            </a:stretch>
          </a:blipFill>
        </p:spPr>
      </p:sp>
      <p:sp>
        <p:nvSpPr>
          <p:cNvPr id="24" name="Freeform 24">
            <a:hlinkClick r:id="rId6" tooltip="https://youtube.com/@CONCEPTSIMPLIFIED"/>
          </p:cNvPr>
          <p:cNvSpPr/>
          <p:nvPr/>
        </p:nvSpPr>
        <p:spPr>
          <a:xfrm>
            <a:off x="6204168" y="10268404"/>
            <a:ext cx="351611" cy="221266"/>
          </a:xfrm>
          <a:custGeom>
            <a:avLst/>
            <a:gdLst/>
            <a:ahLst/>
            <a:cxnLst/>
            <a:rect l="l" t="t" r="r" b="b"/>
            <a:pathLst>
              <a:path w="351611" h="221266">
                <a:moveTo>
                  <a:pt x="0" y="0"/>
                </a:moveTo>
                <a:lnTo>
                  <a:pt x="351611" y="0"/>
                </a:lnTo>
                <a:lnTo>
                  <a:pt x="351611" y="221266"/>
                </a:lnTo>
                <a:lnTo>
                  <a:pt x="0" y="221266"/>
                </a:lnTo>
                <a:lnTo>
                  <a:pt x="0" y="0"/>
                </a:lnTo>
                <a:close/>
              </a:path>
            </a:pathLst>
          </a:custGeom>
          <a:blipFill>
            <a:blip r:embed="rId7"/>
            <a:stretch>
              <a:fillRect t="-5736" b="-5736"/>
            </a:stretch>
          </a:blipFill>
        </p:spPr>
      </p:sp>
      <p:sp>
        <p:nvSpPr>
          <p:cNvPr id="25" name="Freeform 25">
            <a:hlinkClick r:id="rId8" tooltip="https://www.linkedin.com/company/concept-simplified/"/>
          </p:cNvPr>
          <p:cNvSpPr/>
          <p:nvPr/>
        </p:nvSpPr>
        <p:spPr>
          <a:xfrm>
            <a:off x="6635746" y="10237525"/>
            <a:ext cx="284423" cy="284423"/>
          </a:xfrm>
          <a:custGeom>
            <a:avLst/>
            <a:gdLst/>
            <a:ahLst/>
            <a:cxnLst/>
            <a:rect l="l" t="t" r="r" b="b"/>
            <a:pathLst>
              <a:path w="284423" h="284423">
                <a:moveTo>
                  <a:pt x="0" y="0"/>
                </a:moveTo>
                <a:lnTo>
                  <a:pt x="284422" y="0"/>
                </a:lnTo>
                <a:lnTo>
                  <a:pt x="284422" y="284423"/>
                </a:lnTo>
                <a:lnTo>
                  <a:pt x="0" y="284423"/>
                </a:lnTo>
                <a:lnTo>
                  <a:pt x="0" y="0"/>
                </a:lnTo>
                <a:close/>
              </a:path>
            </a:pathLst>
          </a:custGeom>
          <a:blipFill>
            <a:blip r:embed="rId9"/>
            <a:stretch>
              <a:fillRect/>
            </a:stretch>
          </a:blipFill>
        </p:spPr>
      </p:sp>
      <p:sp>
        <p:nvSpPr>
          <p:cNvPr id="26" name="Freeform 26">
            <a:hlinkClick r:id="rId10" tooltip="https://www.collegesimplified.in"/>
          </p:cNvPr>
          <p:cNvSpPr/>
          <p:nvPr/>
        </p:nvSpPr>
        <p:spPr>
          <a:xfrm>
            <a:off x="3276557" y="10258811"/>
            <a:ext cx="263747" cy="263136"/>
          </a:xfrm>
          <a:custGeom>
            <a:avLst/>
            <a:gdLst/>
            <a:ahLst/>
            <a:cxnLst/>
            <a:rect l="l" t="t" r="r" b="b"/>
            <a:pathLst>
              <a:path w="263747" h="263136">
                <a:moveTo>
                  <a:pt x="0" y="0"/>
                </a:moveTo>
                <a:lnTo>
                  <a:pt x="263747" y="0"/>
                </a:lnTo>
                <a:lnTo>
                  <a:pt x="263747" y="263137"/>
                </a:lnTo>
                <a:lnTo>
                  <a:pt x="0" y="263137"/>
                </a:lnTo>
                <a:lnTo>
                  <a:pt x="0" y="0"/>
                </a:lnTo>
                <a:close/>
              </a:path>
            </a:pathLst>
          </a:custGeom>
          <a:blipFill>
            <a:blip r:embed="rId2"/>
            <a:stretch>
              <a:fillRect t="-116" b="-116"/>
            </a:stretch>
          </a:blipFill>
        </p:spPr>
      </p:sp>
      <p:sp>
        <p:nvSpPr>
          <p:cNvPr id="27" name="TextBox 27"/>
          <p:cNvSpPr txBox="1"/>
          <p:nvPr/>
        </p:nvSpPr>
        <p:spPr>
          <a:xfrm>
            <a:off x="1825123" y="10264215"/>
            <a:ext cx="1378270" cy="201226"/>
          </a:xfrm>
          <a:prstGeom prst="rect">
            <a:avLst/>
          </a:prstGeom>
        </p:spPr>
        <p:txBody>
          <a:bodyPr lIns="0" tIns="0" rIns="0" bIns="0" rtlCol="0" anchor="t">
            <a:spAutoFit/>
          </a:bodyPr>
          <a:lstStyle/>
          <a:p>
            <a:pPr marL="0" lvl="0" indent="0" algn="l">
              <a:lnSpc>
                <a:spcPts val="1655"/>
              </a:lnSpc>
              <a:spcBef>
                <a:spcPct val="0"/>
              </a:spcBef>
            </a:pPr>
            <a:r>
              <a:rPr lang="en-US" sz="1182" spc="23">
                <a:solidFill>
                  <a:srgbClr val="000000"/>
                </a:solidFill>
                <a:latin typeface="Poppins"/>
                <a:ea typeface="Poppins"/>
                <a:cs typeface="Poppins"/>
                <a:sym typeface="Poppins"/>
              </a:rPr>
              <a:t>+91 8591220422</a:t>
            </a:r>
          </a:p>
        </p:txBody>
      </p:sp>
      <p:sp>
        <p:nvSpPr>
          <p:cNvPr id="28" name="TextBox 28"/>
          <p:cNvSpPr txBox="1"/>
          <p:nvPr/>
        </p:nvSpPr>
        <p:spPr>
          <a:xfrm>
            <a:off x="3606979" y="10264215"/>
            <a:ext cx="1937228" cy="208099"/>
          </a:xfrm>
          <a:prstGeom prst="rect">
            <a:avLst/>
          </a:prstGeom>
        </p:spPr>
        <p:txBody>
          <a:bodyPr lIns="0" tIns="0" rIns="0" bIns="0" rtlCol="0" anchor="t">
            <a:spAutoFit/>
          </a:bodyPr>
          <a:lstStyle/>
          <a:p>
            <a:pPr marL="0" lvl="0" indent="0" algn="l">
              <a:lnSpc>
                <a:spcPts val="1654"/>
              </a:lnSpc>
              <a:spcBef>
                <a:spcPct val="0"/>
              </a:spcBef>
            </a:pPr>
            <a:r>
              <a:rPr lang="en-US" sz="1182" spc="23">
                <a:solidFill>
                  <a:srgbClr val="000000"/>
                </a:solidFill>
                <a:latin typeface="Poppins"/>
                <a:ea typeface="Poppins"/>
                <a:cs typeface="Poppins"/>
                <a:sym typeface="Poppins"/>
                <a:hlinkClick r:id="rId10" tooltip="https://www.collegesimplified.in"/>
              </a:rPr>
              <a:t>www.collegesimplified.in</a:t>
            </a:r>
          </a:p>
        </p:txBody>
      </p:sp>
      <p:sp>
        <p:nvSpPr>
          <p:cNvPr id="29" name="TextBox 29"/>
          <p:cNvSpPr txBox="1"/>
          <p:nvPr/>
        </p:nvSpPr>
        <p:spPr>
          <a:xfrm>
            <a:off x="334540" y="2333085"/>
            <a:ext cx="6903527" cy="7332345"/>
          </a:xfrm>
          <a:prstGeom prst="rect">
            <a:avLst/>
          </a:prstGeom>
        </p:spPr>
        <p:txBody>
          <a:bodyPr lIns="0" tIns="0" rIns="0" bIns="0" rtlCol="0" anchor="t">
            <a:spAutoFit/>
          </a:bodyPr>
          <a:lstStyle/>
          <a:p>
            <a:pPr algn="l">
              <a:lnSpc>
                <a:spcPts val="1679"/>
              </a:lnSpc>
              <a:spcBef>
                <a:spcPct val="0"/>
              </a:spcBef>
            </a:pPr>
            <a:r>
              <a:rPr lang="en-US" sz="1200" b="1">
                <a:solidFill>
                  <a:srgbClr val="000000"/>
                </a:solidFill>
                <a:latin typeface="Poppins Bold"/>
                <a:ea typeface="Poppins Bold"/>
                <a:cs typeface="Poppins Bold"/>
                <a:sym typeface="Poppins Bold"/>
              </a:rPr>
              <a:t>Performance Expectations</a:t>
            </a:r>
          </a:p>
          <a:p>
            <a:pPr algn="l">
              <a:lnSpc>
                <a:spcPts val="1679"/>
              </a:lnSpc>
              <a:spcBef>
                <a:spcPct val="0"/>
              </a:spcBef>
            </a:pPr>
            <a:endParaRPr lang="en-US" sz="1200" b="1">
              <a:solidFill>
                <a:srgbClr val="000000"/>
              </a:solidFill>
              <a:latin typeface="Poppins Bold"/>
              <a:ea typeface="Poppins Bold"/>
              <a:cs typeface="Poppins Bold"/>
              <a:sym typeface="Poppins Bold"/>
            </a:endParaRPr>
          </a:p>
          <a:p>
            <a:pPr algn="l">
              <a:lnSpc>
                <a:spcPts val="1679"/>
              </a:lnSpc>
              <a:spcBef>
                <a:spcPct val="0"/>
              </a:spcBef>
            </a:pPr>
            <a:r>
              <a:rPr lang="en-US" sz="1200">
                <a:solidFill>
                  <a:srgbClr val="000000"/>
                </a:solidFill>
                <a:latin typeface="Poppins"/>
                <a:ea typeface="Poppins"/>
                <a:cs typeface="Poppins"/>
                <a:sym typeface="Poppins"/>
              </a:rPr>
              <a:t>We expect you to:</a:t>
            </a:r>
          </a:p>
          <a:p>
            <a:pPr marL="259080" lvl="1" indent="-129540" algn="l">
              <a:lnSpc>
                <a:spcPts val="1679"/>
              </a:lnSpc>
              <a:spcBef>
                <a:spcPct val="0"/>
              </a:spcBef>
              <a:buFont typeface="Arial"/>
              <a:buChar char="•"/>
            </a:pPr>
            <a:r>
              <a:rPr lang="en-US" sz="1200">
                <a:solidFill>
                  <a:srgbClr val="000000"/>
                </a:solidFill>
                <a:latin typeface="Poppins"/>
                <a:ea typeface="Poppins"/>
                <a:cs typeface="Poppins"/>
                <a:sym typeface="Poppins"/>
              </a:rPr>
              <a:t>Approach each task with enthusiasm and a problem-solving mindset.</a:t>
            </a:r>
          </a:p>
          <a:p>
            <a:pPr marL="259080" lvl="1" indent="-129540" algn="l">
              <a:lnSpc>
                <a:spcPts val="1679"/>
              </a:lnSpc>
              <a:spcBef>
                <a:spcPct val="0"/>
              </a:spcBef>
              <a:buFont typeface="Arial"/>
              <a:buChar char="•"/>
            </a:pPr>
            <a:r>
              <a:rPr lang="en-US" sz="1200">
                <a:solidFill>
                  <a:srgbClr val="000000"/>
                </a:solidFill>
                <a:latin typeface="Poppins"/>
                <a:ea typeface="Poppins"/>
                <a:cs typeface="Poppins"/>
                <a:sym typeface="Poppins"/>
              </a:rPr>
              <a:t>Meet deadlines and ensure quality in all deliverables.</a:t>
            </a:r>
          </a:p>
          <a:p>
            <a:pPr marL="259080" lvl="1" indent="-129540" algn="l">
              <a:lnSpc>
                <a:spcPts val="1679"/>
              </a:lnSpc>
              <a:spcBef>
                <a:spcPct val="0"/>
              </a:spcBef>
              <a:buFont typeface="Arial"/>
              <a:buChar char="•"/>
            </a:pPr>
            <a:r>
              <a:rPr lang="en-US" sz="1200">
                <a:solidFill>
                  <a:srgbClr val="000000"/>
                </a:solidFill>
                <a:latin typeface="Poppins"/>
                <a:ea typeface="Poppins"/>
                <a:cs typeface="Poppins"/>
                <a:sym typeface="Poppins"/>
              </a:rPr>
              <a:t>Actively contribute to brainstorming sessions and team discussions.</a:t>
            </a:r>
          </a:p>
          <a:p>
            <a:pPr marL="259080" lvl="1" indent="-129540" algn="l">
              <a:lnSpc>
                <a:spcPts val="1679"/>
              </a:lnSpc>
              <a:spcBef>
                <a:spcPct val="0"/>
              </a:spcBef>
              <a:buFont typeface="Arial"/>
              <a:buChar char="•"/>
            </a:pPr>
            <a:r>
              <a:rPr lang="en-US" sz="1200">
                <a:solidFill>
                  <a:srgbClr val="000000"/>
                </a:solidFill>
                <a:latin typeface="Poppins"/>
                <a:ea typeface="Poppins"/>
                <a:cs typeface="Poppins"/>
                <a:sym typeface="Poppins"/>
              </a:rPr>
              <a:t>Represent Concept Simplified with professionalism and integrity.</a:t>
            </a:r>
          </a:p>
          <a:p>
            <a:pPr algn="l">
              <a:lnSpc>
                <a:spcPts val="1679"/>
              </a:lnSpc>
              <a:spcBef>
                <a:spcPct val="0"/>
              </a:spcBef>
            </a:pPr>
            <a:endParaRPr lang="en-US" sz="1200">
              <a:solidFill>
                <a:srgbClr val="000000"/>
              </a:solidFill>
              <a:latin typeface="Poppins"/>
              <a:ea typeface="Poppins"/>
              <a:cs typeface="Poppins"/>
              <a:sym typeface="Poppins"/>
            </a:endParaRPr>
          </a:p>
          <a:p>
            <a:pPr algn="l">
              <a:lnSpc>
                <a:spcPts val="1679"/>
              </a:lnSpc>
              <a:spcBef>
                <a:spcPct val="0"/>
              </a:spcBef>
            </a:pPr>
            <a:r>
              <a:rPr lang="en-US" sz="1200" b="1">
                <a:solidFill>
                  <a:srgbClr val="000000"/>
                </a:solidFill>
                <a:latin typeface="Poppins Bold"/>
                <a:ea typeface="Poppins Bold"/>
                <a:cs typeface="Poppins Bold"/>
                <a:sym typeface="Poppins Bold"/>
              </a:rPr>
              <a:t>Benefits of the Internship</a:t>
            </a:r>
          </a:p>
          <a:p>
            <a:pPr algn="l">
              <a:lnSpc>
                <a:spcPts val="1679"/>
              </a:lnSpc>
              <a:spcBef>
                <a:spcPct val="0"/>
              </a:spcBef>
            </a:pPr>
            <a:endParaRPr lang="en-US" sz="1200" b="1">
              <a:solidFill>
                <a:srgbClr val="000000"/>
              </a:solidFill>
              <a:latin typeface="Poppins Bold"/>
              <a:ea typeface="Poppins Bold"/>
              <a:cs typeface="Poppins Bold"/>
              <a:sym typeface="Poppins Bold"/>
            </a:endParaRPr>
          </a:p>
          <a:p>
            <a:pPr algn="l">
              <a:lnSpc>
                <a:spcPts val="1679"/>
              </a:lnSpc>
              <a:spcBef>
                <a:spcPct val="0"/>
              </a:spcBef>
            </a:pPr>
            <a:r>
              <a:rPr lang="en-US" sz="1200">
                <a:solidFill>
                  <a:srgbClr val="000000"/>
                </a:solidFill>
                <a:latin typeface="Poppins"/>
                <a:ea typeface="Poppins"/>
                <a:cs typeface="Poppins"/>
                <a:sym typeface="Poppins"/>
              </a:rPr>
              <a:t>This internship will enable you to:</a:t>
            </a:r>
          </a:p>
          <a:p>
            <a:pPr marL="259080" lvl="1" indent="-129540" algn="l">
              <a:lnSpc>
                <a:spcPts val="1679"/>
              </a:lnSpc>
              <a:spcBef>
                <a:spcPct val="0"/>
              </a:spcBef>
              <a:buFont typeface="Arial"/>
              <a:buChar char="•"/>
            </a:pPr>
            <a:r>
              <a:rPr lang="en-US" sz="1200">
                <a:solidFill>
                  <a:srgbClr val="000000"/>
                </a:solidFill>
                <a:latin typeface="Poppins"/>
                <a:ea typeface="Poppins"/>
                <a:cs typeface="Poppins"/>
                <a:sym typeface="Poppins"/>
              </a:rPr>
              <a:t>Gain hands-on experience in growth strategies and digital marketing.</a:t>
            </a:r>
          </a:p>
          <a:p>
            <a:pPr marL="259080" lvl="1" indent="-129540" algn="l">
              <a:lnSpc>
                <a:spcPts val="1679"/>
              </a:lnSpc>
              <a:spcBef>
                <a:spcPct val="0"/>
              </a:spcBef>
              <a:buFont typeface="Arial"/>
              <a:buChar char="•"/>
            </a:pPr>
            <a:r>
              <a:rPr lang="en-US" sz="1200">
                <a:solidFill>
                  <a:srgbClr val="000000"/>
                </a:solidFill>
                <a:latin typeface="Poppins"/>
                <a:ea typeface="Poppins"/>
                <a:cs typeface="Poppins"/>
                <a:sym typeface="Poppins"/>
              </a:rPr>
              <a:t>Develop strong analytical, research, and communication skills.</a:t>
            </a:r>
          </a:p>
          <a:p>
            <a:pPr marL="259080" lvl="1" indent="-129540" algn="l">
              <a:lnSpc>
                <a:spcPts val="1679"/>
              </a:lnSpc>
              <a:spcBef>
                <a:spcPct val="0"/>
              </a:spcBef>
              <a:buFont typeface="Arial"/>
              <a:buChar char="•"/>
            </a:pPr>
            <a:r>
              <a:rPr lang="en-US" sz="1200">
                <a:solidFill>
                  <a:srgbClr val="000000"/>
                </a:solidFill>
                <a:latin typeface="Poppins"/>
                <a:ea typeface="Poppins"/>
                <a:cs typeface="Poppins"/>
                <a:sym typeface="Poppins"/>
              </a:rPr>
              <a:t>Build a professional network and work on impactful projects.</a:t>
            </a:r>
          </a:p>
          <a:p>
            <a:pPr marL="259080" lvl="1" indent="-129540" algn="l">
              <a:lnSpc>
                <a:spcPts val="1679"/>
              </a:lnSpc>
              <a:spcBef>
                <a:spcPct val="0"/>
              </a:spcBef>
              <a:buFont typeface="Arial"/>
              <a:buChar char="•"/>
            </a:pPr>
            <a:r>
              <a:rPr lang="en-US" sz="1200">
                <a:solidFill>
                  <a:srgbClr val="000000"/>
                </a:solidFill>
                <a:latin typeface="Poppins"/>
                <a:ea typeface="Poppins"/>
                <a:cs typeface="Poppins"/>
                <a:sym typeface="Poppins"/>
              </a:rPr>
              <a:t>Enhance your resume with meaningful contributions to our organization.</a:t>
            </a:r>
          </a:p>
          <a:p>
            <a:pPr algn="l">
              <a:lnSpc>
                <a:spcPts val="1679"/>
              </a:lnSpc>
              <a:spcBef>
                <a:spcPct val="0"/>
              </a:spcBef>
            </a:pPr>
            <a:endParaRPr lang="en-US" sz="1200">
              <a:solidFill>
                <a:srgbClr val="000000"/>
              </a:solidFill>
              <a:latin typeface="Poppins"/>
              <a:ea typeface="Poppins"/>
              <a:cs typeface="Poppins"/>
              <a:sym typeface="Poppins"/>
            </a:endParaRPr>
          </a:p>
          <a:p>
            <a:pPr algn="l">
              <a:lnSpc>
                <a:spcPts val="1679"/>
              </a:lnSpc>
            </a:pPr>
            <a:r>
              <a:rPr lang="en-US" sz="1200" b="1">
                <a:solidFill>
                  <a:srgbClr val="000000"/>
                </a:solidFill>
                <a:latin typeface="Poppins Bold"/>
                <a:ea typeface="Poppins Bold"/>
                <a:cs typeface="Poppins Bold"/>
                <a:sym typeface="Poppins Bold"/>
              </a:rPr>
              <a:t>To confirm your acceptance of this offer, please respond to this email. For any questions or further information, you can reach us at admin@collegesimplified.in.</a:t>
            </a:r>
          </a:p>
          <a:p>
            <a:pPr algn="l">
              <a:lnSpc>
                <a:spcPts val="1679"/>
              </a:lnSpc>
            </a:pPr>
            <a:endParaRPr lang="en-US" sz="1200" b="1">
              <a:solidFill>
                <a:srgbClr val="000000"/>
              </a:solidFill>
              <a:latin typeface="Poppins Bold"/>
              <a:ea typeface="Poppins Bold"/>
              <a:cs typeface="Poppins Bold"/>
              <a:sym typeface="Poppins Bold"/>
            </a:endParaRPr>
          </a:p>
          <a:p>
            <a:pPr algn="l">
              <a:lnSpc>
                <a:spcPts val="1679"/>
              </a:lnSpc>
            </a:pPr>
            <a:r>
              <a:rPr lang="en-US" sz="1200">
                <a:solidFill>
                  <a:srgbClr val="000000"/>
                </a:solidFill>
                <a:latin typeface="Poppins"/>
                <a:ea typeface="Poppins"/>
                <a:cs typeface="Poppins"/>
                <a:sym typeface="Poppins"/>
              </a:rPr>
              <a:t>We are excited to have you onboard and look forward to a productive and rewarding internship experience.</a:t>
            </a:r>
          </a:p>
          <a:p>
            <a:pPr algn="l">
              <a:lnSpc>
                <a:spcPts val="1679"/>
              </a:lnSpc>
            </a:pPr>
            <a:endParaRPr lang="en-US" sz="1200">
              <a:solidFill>
                <a:srgbClr val="000000"/>
              </a:solidFill>
              <a:latin typeface="Poppins"/>
              <a:ea typeface="Poppins"/>
              <a:cs typeface="Poppins"/>
              <a:sym typeface="Poppins"/>
            </a:endParaRPr>
          </a:p>
          <a:p>
            <a:pPr algn="l">
              <a:lnSpc>
                <a:spcPts val="1679"/>
              </a:lnSpc>
            </a:pPr>
            <a:r>
              <a:rPr lang="en-US" sz="1200" b="1">
                <a:solidFill>
                  <a:srgbClr val="000000"/>
                </a:solidFill>
                <a:latin typeface="Poppins Bold"/>
                <a:ea typeface="Poppins Bold"/>
                <a:cs typeface="Poppins Bold"/>
                <a:sym typeface="Poppins Bold"/>
              </a:rPr>
              <a:t>Welcome to the Team!</a:t>
            </a:r>
          </a:p>
          <a:p>
            <a:pPr algn="l">
              <a:lnSpc>
                <a:spcPts val="1679"/>
              </a:lnSpc>
            </a:pPr>
            <a:r>
              <a:rPr lang="en-US" sz="1200">
                <a:solidFill>
                  <a:srgbClr val="000000"/>
                </a:solidFill>
                <a:latin typeface="Poppins"/>
                <a:ea typeface="Poppins"/>
                <a:cs typeface="Poppins"/>
                <a:sym typeface="Poppins"/>
              </a:rPr>
              <a:t>Once again, congratulations, and welcome to the Concept Simplified family!</a:t>
            </a:r>
          </a:p>
          <a:p>
            <a:pPr algn="l">
              <a:lnSpc>
                <a:spcPts val="1679"/>
              </a:lnSpc>
            </a:pPr>
            <a:endParaRPr lang="en-US" sz="1200">
              <a:solidFill>
                <a:srgbClr val="000000"/>
              </a:solidFill>
              <a:latin typeface="Poppins"/>
              <a:ea typeface="Poppins"/>
              <a:cs typeface="Poppins"/>
              <a:sym typeface="Poppins"/>
            </a:endParaRPr>
          </a:p>
          <a:p>
            <a:pPr algn="l">
              <a:lnSpc>
                <a:spcPts val="1679"/>
              </a:lnSpc>
            </a:pPr>
            <a:r>
              <a:rPr lang="en-US" sz="1200" b="1">
                <a:solidFill>
                  <a:srgbClr val="000000"/>
                </a:solidFill>
                <a:latin typeface="Poppins Bold"/>
                <a:ea typeface="Poppins Bold"/>
                <a:cs typeface="Poppins Bold"/>
                <a:sym typeface="Poppins Bold"/>
              </a:rPr>
              <a:t>Warm regards,</a:t>
            </a:r>
          </a:p>
          <a:p>
            <a:pPr algn="l">
              <a:lnSpc>
                <a:spcPts val="1679"/>
              </a:lnSpc>
            </a:pPr>
            <a:endParaRPr lang="en-US" sz="1200" b="1">
              <a:solidFill>
                <a:srgbClr val="000000"/>
              </a:solidFill>
              <a:latin typeface="Poppins Bold"/>
              <a:ea typeface="Poppins Bold"/>
              <a:cs typeface="Poppins Bold"/>
              <a:sym typeface="Poppins Bold"/>
            </a:endParaRPr>
          </a:p>
          <a:p>
            <a:pPr algn="l">
              <a:lnSpc>
                <a:spcPts val="1679"/>
              </a:lnSpc>
            </a:pPr>
            <a:endParaRPr lang="en-US" sz="1200" b="1">
              <a:solidFill>
                <a:srgbClr val="000000"/>
              </a:solidFill>
              <a:latin typeface="Poppins Bold"/>
              <a:ea typeface="Poppins Bold"/>
              <a:cs typeface="Poppins Bold"/>
              <a:sym typeface="Poppins Bold"/>
            </a:endParaRPr>
          </a:p>
          <a:p>
            <a:pPr algn="l">
              <a:lnSpc>
                <a:spcPts val="1679"/>
              </a:lnSpc>
            </a:pPr>
            <a:endParaRPr lang="en-US" sz="1200" b="1">
              <a:solidFill>
                <a:srgbClr val="000000"/>
              </a:solidFill>
              <a:latin typeface="Poppins Bold"/>
              <a:ea typeface="Poppins Bold"/>
              <a:cs typeface="Poppins Bold"/>
              <a:sym typeface="Poppins Bold"/>
            </a:endParaRPr>
          </a:p>
          <a:p>
            <a:pPr algn="l">
              <a:lnSpc>
                <a:spcPts val="1679"/>
              </a:lnSpc>
            </a:pPr>
            <a:endParaRPr lang="en-US" sz="1200" b="1">
              <a:solidFill>
                <a:srgbClr val="000000"/>
              </a:solidFill>
              <a:latin typeface="Poppins Bold"/>
              <a:ea typeface="Poppins Bold"/>
              <a:cs typeface="Poppins Bold"/>
              <a:sym typeface="Poppins Bold"/>
            </a:endParaRPr>
          </a:p>
          <a:p>
            <a:pPr algn="l">
              <a:lnSpc>
                <a:spcPts val="1679"/>
              </a:lnSpc>
            </a:pPr>
            <a:endParaRPr lang="en-US" sz="1200" b="1">
              <a:solidFill>
                <a:srgbClr val="000000"/>
              </a:solidFill>
              <a:latin typeface="Poppins Bold"/>
              <a:ea typeface="Poppins Bold"/>
              <a:cs typeface="Poppins Bold"/>
              <a:sym typeface="Poppins Bold"/>
            </a:endParaRPr>
          </a:p>
          <a:p>
            <a:pPr algn="l">
              <a:lnSpc>
                <a:spcPts val="1679"/>
              </a:lnSpc>
            </a:pPr>
            <a:endParaRPr lang="en-US" sz="1200" b="1">
              <a:solidFill>
                <a:srgbClr val="000000"/>
              </a:solidFill>
              <a:latin typeface="Poppins Bold"/>
              <a:ea typeface="Poppins Bold"/>
              <a:cs typeface="Poppins Bold"/>
              <a:sym typeface="Poppins Bold"/>
            </a:endParaRPr>
          </a:p>
          <a:p>
            <a:pPr algn="l">
              <a:lnSpc>
                <a:spcPts val="1679"/>
              </a:lnSpc>
            </a:pPr>
            <a:r>
              <a:rPr lang="en-US" sz="1200" b="1">
                <a:solidFill>
                  <a:srgbClr val="000000"/>
                </a:solidFill>
                <a:latin typeface="Poppins Bold"/>
                <a:ea typeface="Poppins Bold"/>
                <a:cs typeface="Poppins Bold"/>
                <a:sym typeface="Poppins Bold"/>
              </a:rPr>
              <a:t>Samkit Shah</a:t>
            </a:r>
          </a:p>
          <a:p>
            <a:pPr algn="l">
              <a:lnSpc>
                <a:spcPts val="1679"/>
              </a:lnSpc>
            </a:pPr>
            <a:r>
              <a:rPr lang="en-US" sz="1200" b="1">
                <a:solidFill>
                  <a:srgbClr val="000000"/>
                </a:solidFill>
                <a:latin typeface="Poppins Bold"/>
                <a:ea typeface="Poppins Bold"/>
                <a:cs typeface="Poppins Bold"/>
                <a:sym typeface="Poppins Bold"/>
              </a:rPr>
              <a:t>Founder, Concept Simplified</a:t>
            </a:r>
          </a:p>
          <a:p>
            <a:pPr algn="l">
              <a:lnSpc>
                <a:spcPts val="1679"/>
              </a:lnSpc>
            </a:pPr>
            <a:endParaRPr lang="en-US" sz="1200" b="1">
              <a:solidFill>
                <a:srgbClr val="000000"/>
              </a:solidFill>
              <a:latin typeface="Poppins Bold"/>
              <a:ea typeface="Poppins Bold"/>
              <a:cs typeface="Poppins Bold"/>
              <a:sym typeface="Poppins Bold"/>
            </a:endParaRPr>
          </a:p>
        </p:txBody>
      </p:sp>
      <p:sp>
        <p:nvSpPr>
          <p:cNvPr id="30" name="Freeform 30"/>
          <p:cNvSpPr/>
          <p:nvPr/>
        </p:nvSpPr>
        <p:spPr>
          <a:xfrm rot="598068">
            <a:off x="722507" y="8141511"/>
            <a:ext cx="1144029" cy="840680"/>
          </a:xfrm>
          <a:custGeom>
            <a:avLst/>
            <a:gdLst/>
            <a:ahLst/>
            <a:cxnLst/>
            <a:rect l="l" t="t" r="r" b="b"/>
            <a:pathLst>
              <a:path w="1144029" h="840680">
                <a:moveTo>
                  <a:pt x="0" y="0"/>
                </a:moveTo>
                <a:lnTo>
                  <a:pt x="1144029" y="0"/>
                </a:lnTo>
                <a:lnTo>
                  <a:pt x="1144029" y="840680"/>
                </a:lnTo>
                <a:lnTo>
                  <a:pt x="0" y="840680"/>
                </a:lnTo>
                <a:lnTo>
                  <a:pt x="0" y="0"/>
                </a:lnTo>
                <a:close/>
              </a:path>
            </a:pathLst>
          </a:custGeom>
          <a:blipFill>
            <a:blip r:embed="rId11"/>
            <a:stretch>
              <a:fillRect l="-364" r="-364" b="-8352"/>
            </a:stretch>
          </a:blipFill>
        </p:spPr>
      </p:sp>
      <p:sp>
        <p:nvSpPr>
          <p:cNvPr id="31" name="Freeform 31"/>
          <p:cNvSpPr/>
          <p:nvPr/>
        </p:nvSpPr>
        <p:spPr>
          <a:xfrm>
            <a:off x="2156716" y="7932731"/>
            <a:ext cx="1251714" cy="1115570"/>
          </a:xfrm>
          <a:custGeom>
            <a:avLst/>
            <a:gdLst/>
            <a:ahLst/>
            <a:cxnLst/>
            <a:rect l="l" t="t" r="r" b="b"/>
            <a:pathLst>
              <a:path w="1251714" h="1115570">
                <a:moveTo>
                  <a:pt x="0" y="0"/>
                </a:moveTo>
                <a:lnTo>
                  <a:pt x="1251714" y="0"/>
                </a:lnTo>
                <a:lnTo>
                  <a:pt x="1251714" y="1115570"/>
                </a:lnTo>
                <a:lnTo>
                  <a:pt x="0" y="1115570"/>
                </a:lnTo>
                <a:lnTo>
                  <a:pt x="0" y="0"/>
                </a:lnTo>
                <a:close/>
              </a:path>
            </a:pathLst>
          </a:custGeom>
          <a:blipFill>
            <a:blip r:embed="rId12"/>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386</Words>
  <Application>Microsoft Office PowerPoint</Application>
  <PresentationFormat>Custom</PresentationFormat>
  <Paragraphs>67</Paragraphs>
  <Slides>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Poppins Bold</vt:lpstr>
      <vt:lpstr>Calibri</vt:lpstr>
      <vt:lpstr>Poppins Medium Bold</vt:lpstr>
      <vt:lpstr>Poppins</vt:lpstr>
      <vt:lpstr>Arial</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OFFER LETTER</dc:title>
  <cp:lastModifiedBy>Sairam Joshi</cp:lastModifiedBy>
  <cp:revision>5</cp:revision>
  <dcterms:created xsi:type="dcterms:W3CDTF">2006-08-16T00:00:00Z</dcterms:created>
  <dcterms:modified xsi:type="dcterms:W3CDTF">2026-05-22T13:19:09Z</dcterms:modified>
  <dc:identifier>DAGr2fEBhN0</dc:identifier>
</cp:coreProperties>
</file>