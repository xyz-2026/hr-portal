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Poppins" panose="00000500000000000000" pitchFamily="2" charset="0"/>
      <p:regular r:id="rId3"/>
      <p:bold r:id="rId4"/>
    </p:embeddedFont>
    <p:embeddedFont>
      <p:font typeface="Poppins Bold" panose="00000800000000000000" charset="0"/>
      <p:regular r:id="rId5"/>
    </p:embeddedFont>
    <p:embeddedFont>
      <p:font typeface="Poppins Medium Bold"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2635"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linkedin.com/company/concept-simplified/" TargetMode="External"/><Relationship Id="rId3" Type="http://schemas.openxmlformats.org/officeDocument/2006/relationships/image" Target="../media/image2.svg"/><Relationship Id="rId7" Type="http://schemas.openxmlformats.org/officeDocument/2006/relationships/image" Target="../media/image4.pn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youtube.com/@CONCEPTSIMPLIFIED" TargetMode="External"/><Relationship Id="rId11" Type="http://schemas.openxmlformats.org/officeDocument/2006/relationships/image" Target="../media/image6.jpeg"/><Relationship Id="rId5" Type="http://schemas.openxmlformats.org/officeDocument/2006/relationships/image" Target="../media/image3.jpeg"/><Relationship Id="rId10" Type="http://schemas.openxmlformats.org/officeDocument/2006/relationships/hyperlink" Target="https://www.collegesimplified.in" TargetMode="External"/><Relationship Id="rId4" Type="http://schemas.openxmlformats.org/officeDocument/2006/relationships/hyperlink" Target="https://www.instagram.com/college_simplified/"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996723" y="-1521403"/>
            <a:ext cx="2482687" cy="2172352"/>
            <a:chOff x="0" y="0"/>
            <a:chExt cx="812800" cy="711200"/>
          </a:xfrm>
        </p:grpSpPr>
        <p:sp>
          <p:nvSpPr>
            <p:cNvPr id="3" name="Freeform 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4" name="TextBox 4"/>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873698" y="9973006"/>
            <a:ext cx="2476910" cy="2167296"/>
            <a:chOff x="0" y="0"/>
            <a:chExt cx="812800" cy="711200"/>
          </a:xfrm>
        </p:grpSpPr>
        <p:sp>
          <p:nvSpPr>
            <p:cNvPr id="6" name="Freeform 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0000"/>
            </a:solidFill>
          </p:spPr>
        </p:sp>
        <p:sp>
          <p:nvSpPr>
            <p:cNvPr id="7" name="TextBox 7"/>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8" name="Group 8"/>
          <p:cNvGrpSpPr/>
          <p:nvPr/>
        </p:nvGrpSpPr>
        <p:grpSpPr>
          <a:xfrm>
            <a:off x="7138540" y="-1661152"/>
            <a:ext cx="2427920" cy="2124430"/>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0" name="TextBox 10"/>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1" name="Group 11"/>
          <p:cNvGrpSpPr/>
          <p:nvPr/>
        </p:nvGrpSpPr>
        <p:grpSpPr>
          <a:xfrm rot="-10800000">
            <a:off x="-2112153" y="9973006"/>
            <a:ext cx="2476910" cy="2167296"/>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BC1823"/>
            </a:solidFill>
          </p:spPr>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rot="-10800000">
            <a:off x="7097260" y="416101"/>
            <a:ext cx="2376175" cy="2171374"/>
            <a:chOff x="0" y="0"/>
            <a:chExt cx="812800" cy="742745"/>
          </a:xfrm>
        </p:grpSpPr>
        <p:sp>
          <p:nvSpPr>
            <p:cNvPr id="15" name="Freeform 15"/>
            <p:cNvSpPr/>
            <p:nvPr/>
          </p:nvSpPr>
          <p:spPr>
            <a:xfrm>
              <a:off x="0" y="0"/>
              <a:ext cx="812800" cy="742745"/>
            </a:xfrm>
            <a:custGeom>
              <a:avLst/>
              <a:gdLst/>
              <a:ahLst/>
              <a:cxnLst/>
              <a:rect l="l" t="t" r="r" b="b"/>
              <a:pathLst>
                <a:path w="812800" h="742745">
                  <a:moveTo>
                    <a:pt x="406400" y="0"/>
                  </a:moveTo>
                  <a:lnTo>
                    <a:pt x="812800" y="742745"/>
                  </a:lnTo>
                  <a:lnTo>
                    <a:pt x="0" y="742745"/>
                  </a:lnTo>
                  <a:lnTo>
                    <a:pt x="406400" y="0"/>
                  </a:lnTo>
                  <a:close/>
                </a:path>
              </a:pathLst>
            </a:custGeom>
            <a:solidFill>
              <a:srgbClr val="EF3A5D"/>
            </a:solidFill>
          </p:spPr>
        </p:sp>
        <p:sp>
          <p:nvSpPr>
            <p:cNvPr id="16" name="TextBox 16"/>
            <p:cNvSpPr txBox="1"/>
            <p:nvPr/>
          </p:nvSpPr>
          <p:spPr>
            <a:xfrm>
              <a:off x="127000" y="316271"/>
              <a:ext cx="558800" cy="373421"/>
            </a:xfrm>
            <a:prstGeom prst="rect">
              <a:avLst/>
            </a:prstGeom>
          </p:spPr>
          <p:txBody>
            <a:bodyPr lIns="50800" tIns="50800" rIns="50800" bIns="50800" rtlCol="0" anchor="ctr"/>
            <a:lstStyle/>
            <a:p>
              <a:pPr algn="ctr">
                <a:lnSpc>
                  <a:spcPts val="1960"/>
                </a:lnSpc>
                <a:spcBef>
                  <a:spcPct val="0"/>
                </a:spcBef>
              </a:pPr>
              <a:endParaRPr/>
            </a:p>
          </p:txBody>
        </p:sp>
      </p:grpSp>
      <p:grpSp>
        <p:nvGrpSpPr>
          <p:cNvPr id="17" name="Group 17"/>
          <p:cNvGrpSpPr/>
          <p:nvPr/>
        </p:nvGrpSpPr>
        <p:grpSpPr>
          <a:xfrm>
            <a:off x="-1831875" y="8073068"/>
            <a:ext cx="2229106" cy="1950467"/>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EF3A5D"/>
            </a:solidFill>
          </p:spPr>
        </p:sp>
        <p:sp>
          <p:nvSpPr>
            <p:cNvPr id="19" name="TextBox 19"/>
            <p:cNvSpPr txBox="1"/>
            <p:nvPr/>
          </p:nvSpPr>
          <p:spPr>
            <a:xfrm>
              <a:off x="127000" y="301625"/>
              <a:ext cx="558800" cy="358775"/>
            </a:xfrm>
            <a:prstGeom prst="rect">
              <a:avLst/>
            </a:prstGeom>
          </p:spPr>
          <p:txBody>
            <a:bodyPr lIns="50800" tIns="50800" rIns="50800" bIns="50800" rtlCol="0" anchor="ctr"/>
            <a:lstStyle/>
            <a:p>
              <a:pPr algn="ctr">
                <a:lnSpc>
                  <a:spcPts val="1960"/>
                </a:lnSpc>
                <a:spcBef>
                  <a:spcPct val="0"/>
                </a:spcBef>
              </a:pPr>
              <a:endParaRPr/>
            </a:p>
          </p:txBody>
        </p:sp>
      </p:grpSp>
      <p:sp>
        <p:nvSpPr>
          <p:cNvPr id="20" name="Freeform 20"/>
          <p:cNvSpPr/>
          <p:nvPr/>
        </p:nvSpPr>
        <p:spPr>
          <a:xfrm>
            <a:off x="756000" y="409472"/>
            <a:ext cx="1174660" cy="1171941"/>
          </a:xfrm>
          <a:custGeom>
            <a:avLst/>
            <a:gdLst/>
            <a:ahLst/>
            <a:cxnLst/>
            <a:rect l="l" t="t" r="r" b="b"/>
            <a:pathLst>
              <a:path w="1174660" h="1171941">
                <a:moveTo>
                  <a:pt x="0" y="0"/>
                </a:moveTo>
                <a:lnTo>
                  <a:pt x="1174660" y="0"/>
                </a:lnTo>
                <a:lnTo>
                  <a:pt x="1174660" y="1171941"/>
                </a:lnTo>
                <a:lnTo>
                  <a:pt x="0" y="1171941"/>
                </a:lnTo>
                <a:lnTo>
                  <a:pt x="0" y="0"/>
                </a:lnTo>
                <a:close/>
              </a:path>
            </a:pathLst>
          </a:custGeom>
          <a:blipFill>
            <a:blip r:embed="rId2"/>
            <a:stretch>
              <a:fillRect t="-116" b="-116"/>
            </a:stretch>
          </a:blipFill>
        </p:spPr>
      </p:sp>
      <p:sp>
        <p:nvSpPr>
          <p:cNvPr id="21" name="TextBox 21"/>
          <p:cNvSpPr txBox="1"/>
          <p:nvPr/>
        </p:nvSpPr>
        <p:spPr>
          <a:xfrm>
            <a:off x="1439376" y="414797"/>
            <a:ext cx="5076651" cy="1166616"/>
          </a:xfrm>
          <a:prstGeom prst="rect">
            <a:avLst/>
          </a:prstGeom>
        </p:spPr>
        <p:txBody>
          <a:bodyPr lIns="0" tIns="0" rIns="0" bIns="0" rtlCol="0" anchor="t">
            <a:spAutoFit/>
          </a:bodyPr>
          <a:lstStyle/>
          <a:p>
            <a:pPr algn="ctr">
              <a:lnSpc>
                <a:spcPts val="4370"/>
              </a:lnSpc>
            </a:pPr>
            <a:r>
              <a:rPr lang="en-US" sz="4505" b="1" spc="225">
                <a:solidFill>
                  <a:srgbClr val="000000"/>
                </a:solidFill>
                <a:latin typeface="Poppins Bold"/>
                <a:ea typeface="Poppins Bold"/>
                <a:cs typeface="Poppins Bold"/>
                <a:sym typeface="Poppins Bold"/>
              </a:rPr>
              <a:t>CONCEPT </a:t>
            </a:r>
          </a:p>
          <a:p>
            <a:pPr marL="0" lvl="0" indent="0" algn="ctr">
              <a:lnSpc>
                <a:spcPts val="4370"/>
              </a:lnSpc>
            </a:pPr>
            <a:r>
              <a:rPr lang="en-US" sz="4505" b="1" spc="225">
                <a:solidFill>
                  <a:srgbClr val="000000"/>
                </a:solidFill>
                <a:latin typeface="Poppins Bold"/>
                <a:ea typeface="Poppins Bold"/>
                <a:cs typeface="Poppins Bold"/>
                <a:sym typeface="Poppins Bold"/>
              </a:rPr>
              <a:t>SIMPLIFIED</a:t>
            </a:r>
          </a:p>
        </p:txBody>
      </p:sp>
      <p:sp>
        <p:nvSpPr>
          <p:cNvPr id="22" name="Freeform 22"/>
          <p:cNvSpPr/>
          <p:nvPr/>
        </p:nvSpPr>
        <p:spPr>
          <a:xfrm>
            <a:off x="1526207" y="10255846"/>
            <a:ext cx="233824" cy="233824"/>
          </a:xfrm>
          <a:custGeom>
            <a:avLst/>
            <a:gdLst/>
            <a:ahLst/>
            <a:cxnLst/>
            <a:rect l="l" t="t" r="r" b="b"/>
            <a:pathLst>
              <a:path w="233824" h="233824">
                <a:moveTo>
                  <a:pt x="0" y="0"/>
                </a:moveTo>
                <a:lnTo>
                  <a:pt x="233824" y="0"/>
                </a:lnTo>
                <a:lnTo>
                  <a:pt x="233824" y="233824"/>
                </a:lnTo>
                <a:lnTo>
                  <a:pt x="0" y="23382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Freeform 23">
            <a:hlinkClick r:id="rId4" tooltip="https://www.instagram.com/college_simplified/"/>
          </p:cNvPr>
          <p:cNvSpPr/>
          <p:nvPr/>
        </p:nvSpPr>
        <p:spPr>
          <a:xfrm>
            <a:off x="5854790" y="10236127"/>
            <a:ext cx="283867" cy="285821"/>
          </a:xfrm>
          <a:custGeom>
            <a:avLst/>
            <a:gdLst/>
            <a:ahLst/>
            <a:cxnLst/>
            <a:rect l="l" t="t" r="r" b="b"/>
            <a:pathLst>
              <a:path w="283867" h="285821">
                <a:moveTo>
                  <a:pt x="0" y="0"/>
                </a:moveTo>
                <a:lnTo>
                  <a:pt x="283867" y="0"/>
                </a:lnTo>
                <a:lnTo>
                  <a:pt x="283867" y="285821"/>
                </a:lnTo>
                <a:lnTo>
                  <a:pt x="0" y="285821"/>
                </a:lnTo>
                <a:lnTo>
                  <a:pt x="0" y="0"/>
                </a:lnTo>
                <a:close/>
              </a:path>
            </a:pathLst>
          </a:custGeom>
          <a:blipFill>
            <a:blip r:embed="rId5"/>
            <a:stretch>
              <a:fillRect l="-31041" r="-30515"/>
            </a:stretch>
          </a:blipFill>
        </p:spPr>
      </p:sp>
      <p:sp>
        <p:nvSpPr>
          <p:cNvPr id="24" name="Freeform 24">
            <a:hlinkClick r:id="rId6" tooltip="https://youtube.com/@CONCEPTSIMPLIFIED"/>
          </p:cNvPr>
          <p:cNvSpPr/>
          <p:nvPr/>
        </p:nvSpPr>
        <p:spPr>
          <a:xfrm>
            <a:off x="6204168" y="10268404"/>
            <a:ext cx="351611" cy="221266"/>
          </a:xfrm>
          <a:custGeom>
            <a:avLst/>
            <a:gdLst/>
            <a:ahLst/>
            <a:cxnLst/>
            <a:rect l="l" t="t" r="r" b="b"/>
            <a:pathLst>
              <a:path w="351611" h="221266">
                <a:moveTo>
                  <a:pt x="0" y="0"/>
                </a:moveTo>
                <a:lnTo>
                  <a:pt x="351611" y="0"/>
                </a:lnTo>
                <a:lnTo>
                  <a:pt x="351611" y="221266"/>
                </a:lnTo>
                <a:lnTo>
                  <a:pt x="0" y="221266"/>
                </a:lnTo>
                <a:lnTo>
                  <a:pt x="0" y="0"/>
                </a:lnTo>
                <a:close/>
              </a:path>
            </a:pathLst>
          </a:custGeom>
          <a:blipFill>
            <a:blip r:embed="rId7"/>
            <a:stretch>
              <a:fillRect t="-5736" b="-5736"/>
            </a:stretch>
          </a:blipFill>
        </p:spPr>
      </p:sp>
      <p:sp>
        <p:nvSpPr>
          <p:cNvPr id="25" name="Freeform 25">
            <a:hlinkClick r:id="rId8" tooltip="https://www.linkedin.com/company/concept-simplified/"/>
          </p:cNvPr>
          <p:cNvSpPr/>
          <p:nvPr/>
        </p:nvSpPr>
        <p:spPr>
          <a:xfrm>
            <a:off x="6635746" y="10237525"/>
            <a:ext cx="284423" cy="284423"/>
          </a:xfrm>
          <a:custGeom>
            <a:avLst/>
            <a:gdLst/>
            <a:ahLst/>
            <a:cxnLst/>
            <a:rect l="l" t="t" r="r" b="b"/>
            <a:pathLst>
              <a:path w="284423" h="284423">
                <a:moveTo>
                  <a:pt x="0" y="0"/>
                </a:moveTo>
                <a:lnTo>
                  <a:pt x="284422" y="0"/>
                </a:lnTo>
                <a:lnTo>
                  <a:pt x="284422" y="284423"/>
                </a:lnTo>
                <a:lnTo>
                  <a:pt x="0" y="284423"/>
                </a:lnTo>
                <a:lnTo>
                  <a:pt x="0" y="0"/>
                </a:lnTo>
                <a:close/>
              </a:path>
            </a:pathLst>
          </a:custGeom>
          <a:blipFill>
            <a:blip r:embed="rId9"/>
            <a:stretch>
              <a:fillRect/>
            </a:stretch>
          </a:blipFill>
        </p:spPr>
      </p:sp>
      <p:sp>
        <p:nvSpPr>
          <p:cNvPr id="26" name="Freeform 26">
            <a:hlinkClick r:id="rId10" tooltip="https://www.collegesimplified.in"/>
          </p:cNvPr>
          <p:cNvSpPr/>
          <p:nvPr/>
        </p:nvSpPr>
        <p:spPr>
          <a:xfrm>
            <a:off x="3276557" y="10258811"/>
            <a:ext cx="263747" cy="263136"/>
          </a:xfrm>
          <a:custGeom>
            <a:avLst/>
            <a:gdLst/>
            <a:ahLst/>
            <a:cxnLst/>
            <a:rect l="l" t="t" r="r" b="b"/>
            <a:pathLst>
              <a:path w="263747" h="263136">
                <a:moveTo>
                  <a:pt x="0" y="0"/>
                </a:moveTo>
                <a:lnTo>
                  <a:pt x="263747" y="0"/>
                </a:lnTo>
                <a:lnTo>
                  <a:pt x="263747" y="263137"/>
                </a:lnTo>
                <a:lnTo>
                  <a:pt x="0" y="263137"/>
                </a:lnTo>
                <a:lnTo>
                  <a:pt x="0" y="0"/>
                </a:lnTo>
                <a:close/>
              </a:path>
            </a:pathLst>
          </a:custGeom>
          <a:blipFill>
            <a:blip r:embed="rId2"/>
            <a:stretch>
              <a:fillRect t="-116" b="-116"/>
            </a:stretch>
          </a:blipFill>
        </p:spPr>
      </p:sp>
      <p:sp>
        <p:nvSpPr>
          <p:cNvPr id="27" name="TextBox 27"/>
          <p:cNvSpPr txBox="1"/>
          <p:nvPr/>
        </p:nvSpPr>
        <p:spPr>
          <a:xfrm>
            <a:off x="1825123" y="10264215"/>
            <a:ext cx="1378270" cy="201226"/>
          </a:xfrm>
          <a:prstGeom prst="rect">
            <a:avLst/>
          </a:prstGeom>
        </p:spPr>
        <p:txBody>
          <a:bodyPr lIns="0" tIns="0" rIns="0" bIns="0" rtlCol="0" anchor="t">
            <a:spAutoFit/>
          </a:bodyPr>
          <a:lstStyle/>
          <a:p>
            <a:pPr marL="0" lvl="0" indent="0" algn="l">
              <a:lnSpc>
                <a:spcPts val="1655"/>
              </a:lnSpc>
              <a:spcBef>
                <a:spcPct val="0"/>
              </a:spcBef>
            </a:pPr>
            <a:r>
              <a:rPr lang="en-US" sz="1182" spc="23">
                <a:solidFill>
                  <a:srgbClr val="000000"/>
                </a:solidFill>
                <a:latin typeface="Poppins"/>
                <a:ea typeface="Poppins"/>
                <a:cs typeface="Poppins"/>
                <a:sym typeface="Poppins"/>
              </a:rPr>
              <a:t>+91 8591220422</a:t>
            </a:r>
          </a:p>
        </p:txBody>
      </p:sp>
      <p:sp>
        <p:nvSpPr>
          <p:cNvPr id="28" name="TextBox 28"/>
          <p:cNvSpPr txBox="1"/>
          <p:nvPr/>
        </p:nvSpPr>
        <p:spPr>
          <a:xfrm>
            <a:off x="3606979" y="10264215"/>
            <a:ext cx="1937228" cy="208099"/>
          </a:xfrm>
          <a:prstGeom prst="rect">
            <a:avLst/>
          </a:prstGeom>
        </p:spPr>
        <p:txBody>
          <a:bodyPr lIns="0" tIns="0" rIns="0" bIns="0" rtlCol="0" anchor="t">
            <a:spAutoFit/>
          </a:bodyPr>
          <a:lstStyle/>
          <a:p>
            <a:pPr marL="0" lvl="0" indent="0" algn="l">
              <a:lnSpc>
                <a:spcPts val="1654"/>
              </a:lnSpc>
              <a:spcBef>
                <a:spcPct val="0"/>
              </a:spcBef>
            </a:pPr>
            <a:r>
              <a:rPr lang="en-US" sz="1182" spc="23">
                <a:solidFill>
                  <a:srgbClr val="000000"/>
                </a:solidFill>
                <a:latin typeface="Poppins"/>
                <a:ea typeface="Poppins"/>
                <a:cs typeface="Poppins"/>
                <a:sym typeface="Poppins"/>
                <a:hlinkClick r:id="rId10" tooltip="https://www.collegesimplified.in"/>
              </a:rPr>
              <a:t>www.collegesimplified.in</a:t>
            </a:r>
          </a:p>
        </p:txBody>
      </p:sp>
      <p:sp>
        <p:nvSpPr>
          <p:cNvPr id="29" name="TextBox 29"/>
          <p:cNvSpPr txBox="1"/>
          <p:nvPr/>
        </p:nvSpPr>
        <p:spPr>
          <a:xfrm>
            <a:off x="364757" y="2729856"/>
            <a:ext cx="2367840" cy="222753"/>
          </a:xfrm>
          <a:prstGeom prst="rect">
            <a:avLst/>
          </a:prstGeom>
        </p:spPr>
        <p:txBody>
          <a:bodyPr lIns="0" tIns="0" rIns="0" bIns="0" rtlCol="0" anchor="t">
            <a:spAutoFit/>
          </a:bodyPr>
          <a:lstStyle/>
          <a:p>
            <a:pPr lvl="0">
              <a:lnSpc>
                <a:spcPts val="1819"/>
              </a:lnSpc>
              <a:spcBef>
                <a:spcPct val="0"/>
              </a:spcBef>
            </a:pPr>
            <a:r>
              <a:rPr lang="en-US" sz="1399" b="1" u="none" strike="noStrike" dirty="0">
                <a:solidFill>
                  <a:srgbClr val="000000"/>
                </a:solidFill>
                <a:latin typeface="Poppins Bold"/>
                <a:ea typeface="Poppins Bold"/>
                <a:cs typeface="Poppins Bold"/>
                <a:sym typeface="Poppins Bold"/>
              </a:rPr>
              <a:t>DATE: </a:t>
            </a:r>
            <a:r>
              <a:rPr lang="en-IN" sz="1400" dirty="0"/>
              <a:t>{{DATE}}</a:t>
            </a:r>
            <a:endParaRPr lang="en-US" sz="1399" b="1" u="none" strike="noStrike" dirty="0">
              <a:solidFill>
                <a:srgbClr val="000000"/>
              </a:solidFill>
              <a:latin typeface="Poppins Bold"/>
              <a:ea typeface="Poppins Bold"/>
              <a:cs typeface="Poppins Bold"/>
              <a:sym typeface="Poppins Bold"/>
            </a:endParaRPr>
          </a:p>
        </p:txBody>
      </p:sp>
      <p:sp>
        <p:nvSpPr>
          <p:cNvPr id="30" name="TextBox 30"/>
          <p:cNvSpPr txBox="1"/>
          <p:nvPr/>
        </p:nvSpPr>
        <p:spPr>
          <a:xfrm>
            <a:off x="5590510" y="2729856"/>
            <a:ext cx="1677774" cy="222753"/>
          </a:xfrm>
          <a:prstGeom prst="rect">
            <a:avLst/>
          </a:prstGeom>
        </p:spPr>
        <p:txBody>
          <a:bodyPr lIns="0" tIns="0" rIns="0" bIns="0" rtlCol="0" anchor="t">
            <a:spAutoFit/>
          </a:bodyPr>
          <a:lstStyle/>
          <a:p>
            <a:pPr lvl="0">
              <a:lnSpc>
                <a:spcPts val="1819"/>
              </a:lnSpc>
            </a:pPr>
            <a:r>
              <a:rPr lang="en-US" sz="1399" b="1" dirty="0">
                <a:solidFill>
                  <a:srgbClr val="000000"/>
                </a:solidFill>
                <a:latin typeface="Poppins Bold"/>
                <a:ea typeface="Poppins Bold"/>
                <a:cs typeface="Poppins Bold"/>
                <a:sym typeface="Poppins Bold"/>
              </a:rPr>
              <a:t>ID : </a:t>
            </a:r>
            <a:r>
              <a:rPr lang="en-IN" sz="1400" dirty="0"/>
              <a:t>{{ID}}</a:t>
            </a:r>
            <a:endParaRPr lang="en-US" sz="1399" b="1" dirty="0">
              <a:solidFill>
                <a:srgbClr val="000000"/>
              </a:solidFill>
              <a:latin typeface="Poppins Bold"/>
              <a:ea typeface="Poppins Bold"/>
              <a:cs typeface="Poppins Bold"/>
              <a:sym typeface="Poppins Bold"/>
            </a:endParaRPr>
          </a:p>
        </p:txBody>
      </p:sp>
      <p:sp>
        <p:nvSpPr>
          <p:cNvPr id="31" name="TextBox 31"/>
          <p:cNvSpPr txBox="1"/>
          <p:nvPr/>
        </p:nvSpPr>
        <p:spPr>
          <a:xfrm>
            <a:off x="1239924" y="1864253"/>
            <a:ext cx="5076652" cy="420371"/>
          </a:xfrm>
          <a:prstGeom prst="rect">
            <a:avLst/>
          </a:prstGeom>
        </p:spPr>
        <p:txBody>
          <a:bodyPr wrap="square" lIns="0" tIns="0" rIns="0" bIns="0" rtlCol="0" anchor="t">
            <a:spAutoFit/>
          </a:bodyPr>
          <a:lstStyle/>
          <a:p>
            <a:pPr marL="0" lvl="0" indent="0" algn="ctr">
              <a:lnSpc>
                <a:spcPts val="3496"/>
              </a:lnSpc>
              <a:spcBef>
                <a:spcPct val="0"/>
              </a:spcBef>
            </a:pPr>
            <a:r>
              <a:rPr lang="en-US" sz="2331" b="1" spc="139" dirty="0">
                <a:solidFill>
                  <a:srgbClr val="000000"/>
                </a:solidFill>
                <a:latin typeface="Poppins Medium Bold"/>
                <a:ea typeface="Poppins Medium Bold"/>
                <a:cs typeface="Poppins Medium Bold"/>
                <a:sym typeface="Poppins Medium Bold"/>
              </a:rPr>
              <a:t>LETTER OF RECOMMENDATION</a:t>
            </a:r>
          </a:p>
        </p:txBody>
      </p:sp>
      <p:sp>
        <p:nvSpPr>
          <p:cNvPr id="32" name="TextBox 32"/>
          <p:cNvSpPr txBox="1"/>
          <p:nvPr/>
        </p:nvSpPr>
        <p:spPr>
          <a:xfrm>
            <a:off x="334540" y="3359563"/>
            <a:ext cx="6903527" cy="6310830"/>
          </a:xfrm>
          <a:prstGeom prst="rect">
            <a:avLst/>
          </a:prstGeom>
        </p:spPr>
        <p:txBody>
          <a:bodyPr lIns="0" tIns="0" rIns="0" bIns="0" rtlCol="0" anchor="t">
            <a:spAutoFit/>
          </a:bodyPr>
          <a:lstStyle/>
          <a:p>
            <a:pPr>
              <a:lnSpc>
                <a:spcPts val="1679"/>
              </a:lnSpc>
              <a:spcBef>
                <a:spcPct val="0"/>
              </a:spcBef>
            </a:pPr>
            <a:r>
              <a:rPr lang="en-US" sz="1200" dirty="0">
                <a:solidFill>
                  <a:srgbClr val="000000"/>
                </a:solidFill>
                <a:latin typeface="Poppins"/>
              </a:rPr>
              <a:t>To Whomsoever It May Concern,</a:t>
            </a:r>
          </a:p>
          <a:p>
            <a:pPr>
              <a:lnSpc>
                <a:spcPts val="1679"/>
              </a:lnSpc>
              <a:spcBef>
                <a:spcPct val="0"/>
              </a:spcBef>
            </a:pPr>
            <a:endParaRPr lang="en-US" sz="1200" dirty="0">
              <a:solidFill>
                <a:srgbClr val="000000"/>
              </a:solidFill>
              <a:latin typeface="Poppins"/>
            </a:endParaRPr>
          </a:p>
          <a:p>
            <a:pPr>
              <a:lnSpc>
                <a:spcPts val="1679"/>
              </a:lnSpc>
              <a:spcBef>
                <a:spcPct val="0"/>
              </a:spcBef>
            </a:pPr>
            <a:r>
              <a:rPr lang="en-US" sz="1200" dirty="0">
                <a:solidFill>
                  <a:srgbClr val="000000"/>
                </a:solidFill>
                <a:latin typeface="Poppins"/>
              </a:rPr>
              <a:t>I am writing to highly recommend {{NAME}}.</a:t>
            </a:r>
          </a:p>
          <a:p>
            <a:pPr algn="just">
              <a:lnSpc>
                <a:spcPts val="1679"/>
              </a:lnSpc>
              <a:spcBef>
                <a:spcPct val="0"/>
              </a:spcBef>
            </a:pPr>
            <a:endParaRPr lang="en-US" sz="1200" dirty="0">
              <a:solidFill>
                <a:srgbClr val="000000"/>
              </a:solidFill>
              <a:latin typeface="Poppins"/>
            </a:endParaRPr>
          </a:p>
          <a:p>
            <a:pPr algn="just">
              <a:lnSpc>
                <a:spcPts val="1679"/>
              </a:lnSpc>
              <a:spcBef>
                <a:spcPct val="0"/>
              </a:spcBef>
            </a:pPr>
            <a:r>
              <a:rPr lang="en-US" sz="1200" dirty="0">
                <a:solidFill>
                  <a:srgbClr val="000000"/>
                </a:solidFill>
                <a:latin typeface="Poppins"/>
              </a:rPr>
              <a:t>{{NAME}} has been associated with Concept Simplified as {{ROLE}}. During this period, they consistently demonstrated exceptional skills, a growth mindset, and the ability to deliver outstanding results.</a:t>
            </a:r>
          </a:p>
          <a:p>
            <a:pPr>
              <a:lnSpc>
                <a:spcPts val="1679"/>
              </a:lnSpc>
              <a:spcBef>
                <a:spcPct val="0"/>
              </a:spcBef>
            </a:pPr>
            <a:endParaRPr lang="en-US" sz="1200" dirty="0">
              <a:solidFill>
                <a:srgbClr val="000000"/>
              </a:solidFill>
              <a:latin typeface="Poppins"/>
            </a:endParaRPr>
          </a:p>
          <a:p>
            <a:pPr algn="just">
              <a:lnSpc>
                <a:spcPts val="1679"/>
              </a:lnSpc>
              <a:spcBef>
                <a:spcPct val="0"/>
              </a:spcBef>
            </a:pPr>
            <a:r>
              <a:rPr lang="en-US" sz="1200" dirty="0">
                <a:solidFill>
                  <a:srgbClr val="000000"/>
                </a:solidFill>
                <a:latin typeface="Poppins"/>
              </a:rPr>
              <a:t>{{NAME}} </a:t>
            </a:r>
            <a:r>
              <a:rPr lang="en-IN" sz="1200" dirty="0">
                <a:latin typeface="Poppins" panose="00000500000000000000" pitchFamily="2" charset="0"/>
                <a:cs typeface="Poppins" panose="00000500000000000000" pitchFamily="2" charset="0"/>
              </a:rPr>
              <a:t>was a valued member of our team who demonstrated consistent dedication, strong work ethic, and a collaborative attitude throughout their tenure at Concept Simplified. Their contributions were meaningful and impactful, and they approached every responsibility with professionalism and integrity. We have observed their professional and personal growth over this period and are fully confident in their capabilities. We believe Test will be a valuable asset to any organisation or academic programme they choose to pursue</a:t>
            </a:r>
          </a:p>
          <a:p>
            <a:pPr>
              <a:lnSpc>
                <a:spcPts val="1679"/>
              </a:lnSpc>
              <a:spcBef>
                <a:spcPct val="0"/>
              </a:spcBef>
            </a:pPr>
            <a:endParaRPr lang="en-US" sz="1200" dirty="0">
              <a:solidFill>
                <a:srgbClr val="000000"/>
              </a:solidFill>
              <a:latin typeface="Poppins"/>
            </a:endParaRPr>
          </a:p>
          <a:p>
            <a:pPr algn="just">
              <a:lnSpc>
                <a:spcPts val="1679"/>
              </a:lnSpc>
              <a:spcBef>
                <a:spcPct val="0"/>
              </a:spcBef>
            </a:pPr>
            <a:r>
              <a:rPr lang="en-US" sz="1200" dirty="0">
                <a:solidFill>
                  <a:srgbClr val="000000"/>
                </a:solidFill>
                <a:latin typeface="Poppins"/>
              </a:rPr>
              <a:t>I wholeheartedly endorse {{NAME}} and am confident they will bring the same level of excellence and commitment to your organisation. Please feel free to reach out for any further information.</a:t>
            </a:r>
          </a:p>
          <a:p>
            <a:pPr>
              <a:lnSpc>
                <a:spcPts val="1679"/>
              </a:lnSpc>
              <a:spcBef>
                <a:spcPct val="0"/>
              </a:spcBef>
            </a:pPr>
            <a:endParaRPr lang="en-US" sz="1200" dirty="0">
              <a:solidFill>
                <a:srgbClr val="000000"/>
              </a:solidFill>
              <a:latin typeface="Poppins"/>
            </a:endParaRPr>
          </a:p>
          <a:p>
            <a:pPr>
              <a:lnSpc>
                <a:spcPts val="1679"/>
              </a:lnSpc>
              <a:spcBef>
                <a:spcPct val="0"/>
              </a:spcBef>
            </a:pPr>
            <a:r>
              <a:rPr lang="en-US" sz="1200" b="1" dirty="0">
                <a:solidFill>
                  <a:srgbClr val="000000"/>
                </a:solidFill>
                <a:latin typeface="Poppins"/>
              </a:rPr>
              <a:t>Yours Sincerely,</a:t>
            </a:r>
          </a:p>
          <a:p>
            <a:pPr>
              <a:lnSpc>
                <a:spcPts val="1679"/>
              </a:lnSpc>
              <a:spcBef>
                <a:spcPct val="0"/>
              </a:spcBef>
            </a:pPr>
            <a:endParaRPr lang="en-US" sz="1200" b="1" dirty="0">
              <a:solidFill>
                <a:srgbClr val="000000"/>
              </a:solidFill>
              <a:latin typeface="Poppins"/>
            </a:endParaRPr>
          </a:p>
          <a:p>
            <a:pPr>
              <a:lnSpc>
                <a:spcPts val="1679"/>
              </a:lnSpc>
              <a:spcBef>
                <a:spcPct val="0"/>
              </a:spcBef>
            </a:pPr>
            <a:endParaRPr lang="en-US" sz="1200" b="1" dirty="0">
              <a:solidFill>
                <a:srgbClr val="000000"/>
              </a:solidFill>
              <a:latin typeface="Poppins"/>
            </a:endParaRPr>
          </a:p>
          <a:p>
            <a:pPr>
              <a:lnSpc>
                <a:spcPts val="1679"/>
              </a:lnSpc>
              <a:spcBef>
                <a:spcPct val="0"/>
              </a:spcBef>
            </a:pPr>
            <a:endParaRPr lang="en-US" sz="1200" b="1" dirty="0">
              <a:solidFill>
                <a:srgbClr val="000000"/>
              </a:solidFill>
              <a:latin typeface="Poppins"/>
            </a:endParaRPr>
          </a:p>
          <a:p>
            <a:pPr lvl="1">
              <a:lnSpc>
                <a:spcPts val="1679"/>
              </a:lnSpc>
              <a:spcBef>
                <a:spcPct val="0"/>
              </a:spcBef>
            </a:pPr>
            <a:endParaRPr lang="en-US" sz="1200" b="1" dirty="0">
              <a:solidFill>
                <a:srgbClr val="000000"/>
              </a:solidFill>
              <a:latin typeface="Poppins"/>
            </a:endParaRPr>
          </a:p>
          <a:p>
            <a:pPr>
              <a:lnSpc>
                <a:spcPts val="1679"/>
              </a:lnSpc>
              <a:spcBef>
                <a:spcPct val="0"/>
              </a:spcBef>
            </a:pPr>
            <a:endParaRPr lang="en-US" sz="1200" b="1" dirty="0">
              <a:solidFill>
                <a:srgbClr val="000000"/>
              </a:solidFill>
              <a:latin typeface="Poppins"/>
            </a:endParaRPr>
          </a:p>
          <a:p>
            <a:pPr>
              <a:lnSpc>
                <a:spcPts val="1679"/>
              </a:lnSpc>
              <a:spcBef>
                <a:spcPct val="0"/>
              </a:spcBef>
            </a:pPr>
            <a:endParaRPr lang="en-US" sz="1200" b="1" dirty="0">
              <a:solidFill>
                <a:srgbClr val="000000"/>
              </a:solidFill>
              <a:latin typeface="Poppins"/>
            </a:endParaRPr>
          </a:p>
          <a:p>
            <a:pPr>
              <a:lnSpc>
                <a:spcPts val="1679"/>
              </a:lnSpc>
              <a:spcBef>
                <a:spcPct val="0"/>
              </a:spcBef>
            </a:pPr>
            <a:r>
              <a:rPr lang="en-US" sz="1200" b="1" dirty="0">
                <a:solidFill>
                  <a:srgbClr val="000000"/>
                </a:solidFill>
                <a:latin typeface="Poppins"/>
              </a:rPr>
              <a:t>Samkit Shah</a:t>
            </a:r>
          </a:p>
          <a:p>
            <a:pPr>
              <a:lnSpc>
                <a:spcPts val="1679"/>
              </a:lnSpc>
              <a:spcBef>
                <a:spcPct val="0"/>
              </a:spcBef>
            </a:pPr>
            <a:r>
              <a:rPr lang="en-US" sz="1200" b="1" dirty="0">
                <a:solidFill>
                  <a:srgbClr val="000000"/>
                </a:solidFill>
                <a:latin typeface="Poppins"/>
              </a:rPr>
              <a:t>Founder, Concept Simplified</a:t>
            </a:r>
          </a:p>
        </p:txBody>
      </p:sp>
      <p:sp>
        <p:nvSpPr>
          <p:cNvPr id="33" name="Freeform 30">
            <a:extLst>
              <a:ext uri="{FF2B5EF4-FFF2-40B4-BE49-F238E27FC236}">
                <a16:creationId xmlns:a16="http://schemas.microsoft.com/office/drawing/2014/main" id="{7B29163A-9529-0B82-5304-FC210D32C81B}"/>
              </a:ext>
            </a:extLst>
          </p:cNvPr>
          <p:cNvSpPr/>
          <p:nvPr/>
        </p:nvSpPr>
        <p:spPr>
          <a:xfrm rot="598068">
            <a:off x="370962" y="8089689"/>
            <a:ext cx="1144029" cy="840680"/>
          </a:xfrm>
          <a:custGeom>
            <a:avLst/>
            <a:gdLst/>
            <a:ahLst/>
            <a:cxnLst/>
            <a:rect l="l" t="t" r="r" b="b"/>
            <a:pathLst>
              <a:path w="1144029" h="840680">
                <a:moveTo>
                  <a:pt x="0" y="0"/>
                </a:moveTo>
                <a:lnTo>
                  <a:pt x="1144029" y="0"/>
                </a:lnTo>
                <a:lnTo>
                  <a:pt x="1144029" y="840680"/>
                </a:lnTo>
                <a:lnTo>
                  <a:pt x="0" y="840680"/>
                </a:lnTo>
                <a:lnTo>
                  <a:pt x="0" y="0"/>
                </a:lnTo>
                <a:close/>
              </a:path>
            </a:pathLst>
          </a:custGeom>
          <a:blipFill>
            <a:blip r:embed="rId11"/>
            <a:stretch>
              <a:fillRect l="-364" r="-364" b="-8352"/>
            </a:stretch>
          </a:blipFill>
        </p:spPr>
      </p:sp>
      <p:sp>
        <p:nvSpPr>
          <p:cNvPr id="34" name="Freeform 31">
            <a:extLst>
              <a:ext uri="{FF2B5EF4-FFF2-40B4-BE49-F238E27FC236}">
                <a16:creationId xmlns:a16="http://schemas.microsoft.com/office/drawing/2014/main" id="{5D230002-2B0D-F5FE-F540-9B7AF80364DF}"/>
              </a:ext>
            </a:extLst>
          </p:cNvPr>
          <p:cNvSpPr/>
          <p:nvPr/>
        </p:nvSpPr>
        <p:spPr>
          <a:xfrm>
            <a:off x="1579116" y="7997021"/>
            <a:ext cx="1251714" cy="1115570"/>
          </a:xfrm>
          <a:custGeom>
            <a:avLst/>
            <a:gdLst/>
            <a:ahLst/>
            <a:cxnLst/>
            <a:rect l="l" t="t" r="r" b="b"/>
            <a:pathLst>
              <a:path w="1251714" h="1115570">
                <a:moveTo>
                  <a:pt x="0" y="0"/>
                </a:moveTo>
                <a:lnTo>
                  <a:pt x="1251714" y="0"/>
                </a:lnTo>
                <a:lnTo>
                  <a:pt x="1251714" y="1115570"/>
                </a:lnTo>
                <a:lnTo>
                  <a:pt x="0" y="1115570"/>
                </a:lnTo>
                <a:lnTo>
                  <a:pt x="0" y="0"/>
                </a:lnTo>
                <a:close/>
              </a:path>
            </a:pathLst>
          </a:custGeom>
          <a:blipFill>
            <a:blip r:embed="rId1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200</Words>
  <Application>Microsoft Office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Poppins Bold</vt:lpstr>
      <vt:lpstr>Arial</vt:lpstr>
      <vt:lpstr>Calibri</vt:lpstr>
      <vt:lpstr>Poppins</vt:lpstr>
      <vt:lpstr>Poppins Medium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cp:lastModifiedBy>Sairam Joshi</cp:lastModifiedBy>
  <cp:revision>10</cp:revision>
  <dcterms:created xsi:type="dcterms:W3CDTF">2006-08-16T00:00:00Z</dcterms:created>
  <dcterms:modified xsi:type="dcterms:W3CDTF">2026-05-30T07:55:23Z</dcterms:modified>
  <dc:identifier>DAGr2fEBhN0</dc:identifier>
</cp:coreProperties>
</file>